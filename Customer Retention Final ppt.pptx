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Arial Black" panose="020B0A04020102020204" pitchFamily="34" charset="0"/>
      <p:regular r:id="rId20"/>
      <p:bold r:id="rId21"/>
    </p:embeddedFont>
    <p:embeddedFont>
      <p:font typeface="Calibri" panose="020F0502020204030204" pitchFamily="34" charset="0"/>
      <p:regular r:id="rId22"/>
      <p:bold r:id="rId23"/>
      <p:italic r:id="rId24"/>
      <p:boldItalic r:id="rId25"/>
    </p:embeddedFont>
    <p:embeddedFont>
      <p:font typeface="Century Gothic" panose="020B0502020202020204" pitchFamily="34" charset="0"/>
      <p:regular r:id="rId26"/>
      <p:bold r:id="rId27"/>
      <p:italic r:id="rId28"/>
      <p:boldItalic r:id="rId29"/>
    </p:embeddedFont>
    <p:embeddedFont>
      <p:font typeface="Impact" panose="020B0806030902050204" pitchFamily="34" charset="0"/>
      <p:regular r:id="rId30"/>
    </p:embeddedFont>
    <p:embeddedFont>
      <p:font typeface="Quattrocento Sans" panose="020B0502050000020003"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8D8D8"/>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a:stretch/>
        </p:blipFill>
        <p:spPr>
          <a:xfrm>
            <a:off x="0" y="0"/>
            <a:ext cx="9144000" cy="6858000"/>
          </a:xfrm>
          <a:prstGeom prst="rect">
            <a:avLst/>
          </a:prstGeom>
          <a:noFill/>
          <a:ln>
            <a:noFill/>
          </a:ln>
        </p:spPr>
      </p:pic>
      <p:pic>
        <p:nvPicPr>
          <p:cNvPr id="85" name="Google Shape;85;p13"/>
          <p:cNvPicPr preferRelativeResize="0"/>
          <p:nvPr/>
        </p:nvPicPr>
        <p:blipFill rotWithShape="1">
          <a:blip r:embed="rId4">
            <a:alphaModFix/>
          </a:blip>
          <a:srcRect/>
          <a:stretch/>
        </p:blipFill>
        <p:spPr>
          <a:xfrm>
            <a:off x="6705600" y="-609600"/>
            <a:ext cx="2929890" cy="2133600"/>
          </a:xfrm>
          <a:prstGeom prst="rect">
            <a:avLst/>
          </a:prstGeom>
          <a:noFill/>
          <a:ln>
            <a:noFill/>
          </a:ln>
        </p:spPr>
      </p:pic>
      <p:sp>
        <p:nvSpPr>
          <p:cNvPr id="86" name="Google Shape;86;p13"/>
          <p:cNvSpPr txBox="1"/>
          <p:nvPr/>
        </p:nvSpPr>
        <p:spPr>
          <a:xfrm>
            <a:off x="3539490" y="1809515"/>
            <a:ext cx="6096000"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1" i="0" u="none" strike="noStrike" cap="none" dirty="0">
                <a:solidFill>
                  <a:schemeClr val="dk1"/>
                </a:solidFill>
                <a:latin typeface="Impact"/>
                <a:ea typeface="Impact"/>
                <a:cs typeface="Impact"/>
                <a:sym typeface="Impact"/>
              </a:rPr>
              <a:t>Customer Retention </a:t>
            </a:r>
            <a:endParaRPr dirty="0"/>
          </a:p>
          <a:p>
            <a:pPr marL="0" marR="0" lvl="0" indent="0" algn="l" rtl="0">
              <a:spcBef>
                <a:spcPts val="0"/>
              </a:spcBef>
              <a:spcAft>
                <a:spcPts val="0"/>
              </a:spcAft>
              <a:buNone/>
            </a:pPr>
            <a:r>
              <a:rPr lang="en-US" sz="5000" b="1" dirty="0">
                <a:solidFill>
                  <a:schemeClr val="dk1"/>
                </a:solidFill>
                <a:latin typeface="Impact"/>
                <a:ea typeface="Impact"/>
                <a:cs typeface="Impact"/>
                <a:sym typeface="Impact"/>
              </a:rPr>
              <a:t>                           Project</a:t>
            </a:r>
            <a:endParaRPr sz="5000" b="1" dirty="0">
              <a:solidFill>
                <a:schemeClr val="dk1"/>
              </a:solidFill>
              <a:latin typeface="Impact"/>
              <a:ea typeface="Impact"/>
              <a:cs typeface="Impact"/>
              <a:sym typeface="Impact"/>
            </a:endParaRPr>
          </a:p>
        </p:txBody>
      </p:sp>
      <p:sp>
        <p:nvSpPr>
          <p:cNvPr id="87" name="Google Shape;87;p13"/>
          <p:cNvSpPr txBox="1"/>
          <p:nvPr/>
        </p:nvSpPr>
        <p:spPr>
          <a:xfrm>
            <a:off x="6282690" y="5412064"/>
            <a:ext cx="335280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Calibri"/>
                <a:ea typeface="Calibri"/>
                <a:cs typeface="Calibri"/>
                <a:sym typeface="Calibri"/>
              </a:rPr>
              <a:t>Submitted by:</a:t>
            </a:r>
            <a:endParaRPr sz="3000" b="1" dirty="0">
              <a:solidFill>
                <a:schemeClr val="dk1"/>
              </a:solidFill>
              <a:latin typeface="Calibri"/>
              <a:ea typeface="Calibri"/>
              <a:cs typeface="Calibri"/>
              <a:sym typeface="Calibri"/>
            </a:endParaRPr>
          </a:p>
        </p:txBody>
      </p:sp>
      <p:sp>
        <p:nvSpPr>
          <p:cNvPr id="88" name="Google Shape;88;p13"/>
          <p:cNvSpPr txBox="1"/>
          <p:nvPr/>
        </p:nvSpPr>
        <p:spPr>
          <a:xfrm>
            <a:off x="7578090" y="5984197"/>
            <a:ext cx="2438400" cy="507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700" b="1" dirty="0">
                <a:solidFill>
                  <a:schemeClr val="dk1"/>
                </a:solidFill>
                <a:latin typeface="Calibri"/>
                <a:ea typeface="Calibri"/>
                <a:cs typeface="Calibri"/>
                <a:sym typeface="Calibri"/>
              </a:rPr>
              <a:t>Kundan</a:t>
            </a:r>
            <a:endParaRPr sz="2700"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grpSp>
        <p:nvGrpSpPr>
          <p:cNvPr id="93" name="Google Shape;93;p14"/>
          <p:cNvGrpSpPr/>
          <p:nvPr/>
        </p:nvGrpSpPr>
        <p:grpSpPr>
          <a:xfrm>
            <a:off x="2666999" y="228600"/>
            <a:ext cx="3778063" cy="755072"/>
            <a:chOff x="2666999" y="228600"/>
            <a:chExt cx="3778063" cy="755072"/>
          </a:xfrm>
        </p:grpSpPr>
        <p:sp>
          <p:nvSpPr>
            <p:cNvPr id="94" name="Google Shape;94;p14"/>
            <p:cNvSpPr txBox="1"/>
            <p:nvPr/>
          </p:nvSpPr>
          <p:spPr>
            <a:xfrm>
              <a:off x="2666999" y="228600"/>
              <a:ext cx="3778063" cy="63094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500" b="1" dirty="0">
                  <a:solidFill>
                    <a:srgbClr val="953734"/>
                  </a:solidFill>
                  <a:latin typeface="Arial"/>
                  <a:ea typeface="Arial"/>
                  <a:cs typeface="Arial"/>
                  <a:sym typeface="Arial"/>
                </a:rPr>
                <a:t>INTRODUCTION</a:t>
              </a:r>
              <a:endParaRPr sz="3500" b="1" dirty="0">
                <a:solidFill>
                  <a:srgbClr val="953734"/>
                </a:solidFill>
                <a:latin typeface="Arial"/>
                <a:ea typeface="Arial"/>
                <a:cs typeface="Arial"/>
                <a:sym typeface="Arial"/>
              </a:endParaRPr>
            </a:p>
          </p:txBody>
        </p:sp>
        <p:grpSp>
          <p:nvGrpSpPr>
            <p:cNvPr id="95" name="Google Shape;95;p14"/>
            <p:cNvGrpSpPr/>
            <p:nvPr/>
          </p:nvGrpSpPr>
          <p:grpSpPr>
            <a:xfrm>
              <a:off x="3886200" y="824345"/>
              <a:ext cx="1295400" cy="159327"/>
              <a:chOff x="3886200" y="824345"/>
              <a:chExt cx="1295400" cy="159327"/>
            </a:xfrm>
          </p:grpSpPr>
          <p:sp>
            <p:nvSpPr>
              <p:cNvPr id="96" name="Google Shape;96;p14"/>
              <p:cNvSpPr/>
              <p:nvPr/>
            </p:nvSpPr>
            <p:spPr>
              <a:xfrm>
                <a:off x="5029200" y="831272"/>
                <a:ext cx="152400" cy="152400"/>
              </a:xfrm>
              <a:prstGeom prst="ellipse">
                <a:avLst/>
              </a:prstGeom>
              <a:solidFill>
                <a:srgbClr val="FABF8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4"/>
              <p:cNvSpPr/>
              <p:nvPr/>
            </p:nvSpPr>
            <p:spPr>
              <a:xfrm>
                <a:off x="4457700" y="824345"/>
                <a:ext cx="152400" cy="152400"/>
              </a:xfrm>
              <a:prstGeom prst="ellipse">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4"/>
              <p:cNvSpPr/>
              <p:nvPr/>
            </p:nvSpPr>
            <p:spPr>
              <a:xfrm>
                <a:off x="4191000" y="824345"/>
                <a:ext cx="152400" cy="15240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4"/>
              <p:cNvSpPr/>
              <p:nvPr/>
            </p:nvSpPr>
            <p:spPr>
              <a:xfrm>
                <a:off x="4724400" y="831272"/>
                <a:ext cx="152400" cy="152400"/>
              </a:xfrm>
              <a:prstGeom prst="ellipse">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14"/>
              <p:cNvSpPr/>
              <p:nvPr/>
            </p:nvSpPr>
            <p:spPr>
              <a:xfrm>
                <a:off x="3886200" y="824345"/>
                <a:ext cx="152400" cy="152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101" name="Google Shape;101;p14"/>
          <p:cNvGrpSpPr/>
          <p:nvPr/>
        </p:nvGrpSpPr>
        <p:grpSpPr>
          <a:xfrm>
            <a:off x="993775" y="2419529"/>
            <a:ext cx="3197225" cy="1113751"/>
            <a:chOff x="764723" y="2142394"/>
            <a:chExt cx="3197225" cy="1113751"/>
          </a:xfrm>
        </p:grpSpPr>
        <p:sp>
          <p:nvSpPr>
            <p:cNvPr id="102" name="Google Shape;102;p14"/>
            <p:cNvSpPr/>
            <p:nvPr/>
          </p:nvSpPr>
          <p:spPr>
            <a:xfrm>
              <a:off x="764723" y="2277144"/>
              <a:ext cx="662056" cy="662056"/>
            </a:xfrm>
            <a:prstGeom prst="ellipse">
              <a:avLst/>
            </a:prstGeom>
            <a:solidFill>
              <a:srgbClr val="EF30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3" name="Google Shape;103;p14"/>
            <p:cNvPicPr preferRelativeResize="0"/>
            <p:nvPr/>
          </p:nvPicPr>
          <p:blipFill rotWithShape="1">
            <a:blip r:embed="rId3">
              <a:alphaModFix/>
            </a:blip>
            <a:srcRect/>
            <a:stretch/>
          </p:blipFill>
          <p:spPr>
            <a:xfrm>
              <a:off x="896554" y="2408975"/>
              <a:ext cx="398394" cy="398394"/>
            </a:xfrm>
            <a:prstGeom prst="rect">
              <a:avLst/>
            </a:prstGeom>
            <a:noFill/>
            <a:ln>
              <a:noFill/>
            </a:ln>
          </p:spPr>
        </p:pic>
        <p:sp>
          <p:nvSpPr>
            <p:cNvPr id="104" name="Google Shape;104;p14"/>
            <p:cNvSpPr txBox="1"/>
            <p:nvPr/>
          </p:nvSpPr>
          <p:spPr>
            <a:xfrm>
              <a:off x="1435200" y="2142394"/>
              <a:ext cx="252674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EF3078"/>
                  </a:solidFill>
                  <a:latin typeface="Twentieth Century"/>
                  <a:ea typeface="Twentieth Century"/>
                  <a:cs typeface="Twentieth Century"/>
                  <a:sym typeface="Twentieth Century"/>
                </a:rPr>
                <a:t>Activation/Retention</a:t>
              </a:r>
              <a:endParaRPr sz="1800" dirty="0">
                <a:solidFill>
                  <a:srgbClr val="EF3078"/>
                </a:solidFill>
                <a:latin typeface="Twentieth Century"/>
                <a:ea typeface="Twentieth Century"/>
                <a:cs typeface="Twentieth Century"/>
                <a:sym typeface="Twentieth Century"/>
              </a:endParaRPr>
            </a:p>
          </p:txBody>
        </p:sp>
        <p:sp>
          <p:nvSpPr>
            <p:cNvPr id="105" name="Google Shape;105;p14"/>
            <p:cNvSpPr txBox="1"/>
            <p:nvPr/>
          </p:nvSpPr>
          <p:spPr>
            <a:xfrm>
              <a:off x="1435200" y="2425148"/>
              <a:ext cx="2526748"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rgbClr val="3F3F3F"/>
                  </a:solidFill>
                  <a:latin typeface="Twentieth Century"/>
                  <a:ea typeface="Twentieth Century"/>
                  <a:cs typeface="Twentieth Century"/>
                  <a:sym typeface="Twentieth Century"/>
                </a:rPr>
                <a:t>For this project a detailed research has been conducted to increase the purchase ,</a:t>
              </a:r>
              <a:r>
                <a:rPr lang="en-US" sz="1200" dirty="0" err="1">
                  <a:solidFill>
                    <a:srgbClr val="3F3F3F"/>
                  </a:solidFill>
                  <a:latin typeface="Twentieth Century"/>
                  <a:ea typeface="Twentieth Century"/>
                  <a:cs typeface="Twentieth Century"/>
                  <a:sym typeface="Twentieth Century"/>
                </a:rPr>
                <a:t>actiivation</a:t>
              </a:r>
              <a:r>
                <a:rPr lang="en-US" sz="1200" dirty="0">
                  <a:solidFill>
                    <a:srgbClr val="3F3F3F"/>
                  </a:solidFill>
                  <a:latin typeface="Twentieth Century"/>
                  <a:ea typeface="Twentieth Century"/>
                  <a:cs typeface="Twentieth Century"/>
                  <a:sym typeface="Twentieth Century"/>
                </a:rPr>
                <a:t> and retention of customers.</a:t>
              </a:r>
              <a:endParaRPr sz="1200" dirty="0">
                <a:solidFill>
                  <a:srgbClr val="3F3F3F"/>
                </a:solidFill>
                <a:latin typeface="Twentieth Century"/>
                <a:ea typeface="Twentieth Century"/>
                <a:cs typeface="Twentieth Century"/>
                <a:sym typeface="Twentieth Century"/>
              </a:endParaRPr>
            </a:p>
          </p:txBody>
        </p:sp>
      </p:grpSp>
      <p:grpSp>
        <p:nvGrpSpPr>
          <p:cNvPr id="106" name="Google Shape;106;p14"/>
          <p:cNvGrpSpPr/>
          <p:nvPr/>
        </p:nvGrpSpPr>
        <p:grpSpPr>
          <a:xfrm>
            <a:off x="5181689" y="5268949"/>
            <a:ext cx="3197225" cy="929085"/>
            <a:chOff x="764723" y="3420415"/>
            <a:chExt cx="3197225" cy="929085"/>
          </a:xfrm>
        </p:grpSpPr>
        <p:sp>
          <p:nvSpPr>
            <p:cNvPr id="107" name="Google Shape;107;p14"/>
            <p:cNvSpPr/>
            <p:nvPr/>
          </p:nvSpPr>
          <p:spPr>
            <a:xfrm>
              <a:off x="764723" y="3555165"/>
              <a:ext cx="662056" cy="662056"/>
            </a:xfrm>
            <a:prstGeom prst="ellipse">
              <a:avLst/>
            </a:prstGeom>
            <a:solidFill>
              <a:srgbClr val="03A1A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14"/>
            <p:cNvSpPr txBox="1"/>
            <p:nvPr/>
          </p:nvSpPr>
          <p:spPr>
            <a:xfrm>
              <a:off x="1435200" y="3420415"/>
              <a:ext cx="15557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3A1A4"/>
                  </a:solidFill>
                  <a:latin typeface="Twentieth Century"/>
                  <a:ea typeface="Twentieth Century"/>
                  <a:cs typeface="Twentieth Century"/>
                  <a:sym typeface="Twentieth Century"/>
                </a:rPr>
                <a:t>Loyalty</a:t>
              </a:r>
              <a:endParaRPr sz="1800">
                <a:solidFill>
                  <a:srgbClr val="03A1A4"/>
                </a:solidFill>
                <a:latin typeface="Twentieth Century"/>
                <a:ea typeface="Twentieth Century"/>
                <a:cs typeface="Twentieth Century"/>
                <a:sym typeface="Twentieth Century"/>
              </a:endParaRPr>
            </a:p>
          </p:txBody>
        </p:sp>
        <p:sp>
          <p:nvSpPr>
            <p:cNvPr id="109" name="Google Shape;109;p14"/>
            <p:cNvSpPr txBox="1"/>
            <p:nvPr/>
          </p:nvSpPr>
          <p:spPr>
            <a:xfrm>
              <a:off x="1435200" y="3703169"/>
              <a:ext cx="2526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rgbClr val="3F3F3F"/>
                  </a:solidFill>
                  <a:latin typeface="Twentieth Century"/>
                  <a:ea typeface="Twentieth Century"/>
                  <a:cs typeface="Twentieth Century"/>
                  <a:sym typeface="Twentieth Century"/>
                </a:rPr>
                <a:t>The combination of both </a:t>
              </a:r>
              <a:r>
                <a:rPr lang="en-US" sz="1200" dirty="0" err="1">
                  <a:solidFill>
                    <a:srgbClr val="3F3F3F"/>
                  </a:solidFill>
                  <a:latin typeface="Twentieth Century"/>
                  <a:ea typeface="Twentieth Century"/>
                  <a:cs typeface="Twentieth Century"/>
                  <a:sym typeface="Twentieth Century"/>
                </a:rPr>
                <a:t>utiliterian</a:t>
              </a:r>
              <a:r>
                <a:rPr lang="en-US" sz="1200" dirty="0">
                  <a:solidFill>
                    <a:srgbClr val="3F3F3F"/>
                  </a:solidFill>
                  <a:latin typeface="Twentieth Century"/>
                  <a:ea typeface="Twentieth Century"/>
                  <a:cs typeface="Twentieth Century"/>
                  <a:sym typeface="Twentieth Century"/>
                </a:rPr>
                <a:t> and </a:t>
              </a:r>
              <a:r>
                <a:rPr lang="en-US" sz="1200" dirty="0" err="1">
                  <a:solidFill>
                    <a:srgbClr val="3F3F3F"/>
                  </a:solidFill>
                  <a:latin typeface="Twentieth Century"/>
                  <a:ea typeface="Twentieth Century"/>
                  <a:cs typeface="Twentieth Century"/>
                  <a:sym typeface="Twentieth Century"/>
                </a:rPr>
                <a:t>hedonestic</a:t>
              </a:r>
              <a:r>
                <a:rPr lang="en-US" sz="1200" dirty="0">
                  <a:solidFill>
                    <a:srgbClr val="3F3F3F"/>
                  </a:solidFill>
                  <a:latin typeface="Twentieth Century"/>
                  <a:ea typeface="Twentieth Century"/>
                  <a:cs typeface="Twentieth Century"/>
                  <a:sym typeface="Twentieth Century"/>
                </a:rPr>
                <a:t> values are need to affect the repeat purchase(loyalty)</a:t>
              </a:r>
              <a:endParaRPr sz="1200" dirty="0">
                <a:solidFill>
                  <a:srgbClr val="3F3F3F"/>
                </a:solidFill>
                <a:latin typeface="Twentieth Century"/>
                <a:ea typeface="Twentieth Century"/>
                <a:cs typeface="Twentieth Century"/>
                <a:sym typeface="Twentieth Century"/>
              </a:endParaRPr>
            </a:p>
          </p:txBody>
        </p:sp>
        <p:pic>
          <p:nvPicPr>
            <p:cNvPr id="110" name="Google Shape;110;p14"/>
            <p:cNvPicPr preferRelativeResize="0"/>
            <p:nvPr/>
          </p:nvPicPr>
          <p:blipFill rotWithShape="1">
            <a:blip r:embed="rId4">
              <a:alphaModFix/>
            </a:blip>
            <a:srcRect/>
            <a:stretch/>
          </p:blipFill>
          <p:spPr>
            <a:xfrm>
              <a:off x="922748" y="3713190"/>
              <a:ext cx="346006" cy="346006"/>
            </a:xfrm>
            <a:prstGeom prst="rect">
              <a:avLst/>
            </a:prstGeom>
            <a:noFill/>
            <a:ln>
              <a:noFill/>
            </a:ln>
          </p:spPr>
        </p:pic>
      </p:grpSp>
      <p:grpSp>
        <p:nvGrpSpPr>
          <p:cNvPr id="111" name="Google Shape;111;p14"/>
          <p:cNvGrpSpPr/>
          <p:nvPr/>
        </p:nvGrpSpPr>
        <p:grpSpPr>
          <a:xfrm>
            <a:off x="3256259" y="3826245"/>
            <a:ext cx="3188804" cy="929085"/>
            <a:chOff x="3256259" y="3826245"/>
            <a:chExt cx="3188804" cy="929085"/>
          </a:xfrm>
        </p:grpSpPr>
        <p:grpSp>
          <p:nvGrpSpPr>
            <p:cNvPr id="112" name="Google Shape;112;p14"/>
            <p:cNvGrpSpPr/>
            <p:nvPr/>
          </p:nvGrpSpPr>
          <p:grpSpPr>
            <a:xfrm>
              <a:off x="3256259" y="3826245"/>
              <a:ext cx="3188804" cy="929085"/>
              <a:chOff x="8252952" y="4698436"/>
              <a:chExt cx="3188804" cy="929085"/>
            </a:xfrm>
          </p:grpSpPr>
          <p:sp>
            <p:nvSpPr>
              <p:cNvPr id="113" name="Google Shape;113;p14"/>
              <p:cNvSpPr/>
              <p:nvPr/>
            </p:nvSpPr>
            <p:spPr>
              <a:xfrm>
                <a:off x="8252952" y="4813080"/>
                <a:ext cx="662056" cy="662056"/>
              </a:xfrm>
              <a:prstGeom prst="ellipse">
                <a:avLst/>
              </a:prstGeom>
              <a:solidFill>
                <a:srgbClr val="EE95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14"/>
              <p:cNvSpPr txBox="1"/>
              <p:nvPr/>
            </p:nvSpPr>
            <p:spPr>
              <a:xfrm>
                <a:off x="8915007" y="4698436"/>
                <a:ext cx="23300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EE9524"/>
                    </a:solidFill>
                    <a:latin typeface="Twentieth Century"/>
                    <a:ea typeface="Twentieth Century"/>
                    <a:cs typeface="Twentieth Century"/>
                    <a:sym typeface="Twentieth Century"/>
                  </a:rPr>
                  <a:t>Five major factors</a:t>
                </a:r>
                <a:endParaRPr sz="1800">
                  <a:solidFill>
                    <a:srgbClr val="EE9524"/>
                  </a:solidFill>
                  <a:latin typeface="Twentieth Century"/>
                  <a:ea typeface="Twentieth Century"/>
                  <a:cs typeface="Twentieth Century"/>
                  <a:sym typeface="Twentieth Century"/>
                </a:endParaRPr>
              </a:p>
            </p:txBody>
          </p:sp>
          <p:sp>
            <p:nvSpPr>
              <p:cNvPr id="115" name="Google Shape;115;p14"/>
              <p:cNvSpPr txBox="1"/>
              <p:nvPr/>
            </p:nvSpPr>
            <p:spPr>
              <a:xfrm>
                <a:off x="8915008" y="4981190"/>
                <a:ext cx="2526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rgbClr val="3F3F3F"/>
                    </a:solidFill>
                    <a:latin typeface="Twentieth Century"/>
                    <a:ea typeface="Twentieth Century"/>
                    <a:cs typeface="Twentieth Century"/>
                    <a:sym typeface="Twentieth Century"/>
                  </a:rPr>
                  <a:t>Service quality, System quality, Information </a:t>
                </a:r>
                <a:r>
                  <a:rPr lang="en-US" sz="1200" dirty="0" err="1">
                    <a:solidFill>
                      <a:srgbClr val="3F3F3F"/>
                    </a:solidFill>
                    <a:latin typeface="Twentieth Century"/>
                    <a:ea typeface="Twentieth Century"/>
                    <a:cs typeface="Twentieth Century"/>
                    <a:sym typeface="Twentieth Century"/>
                  </a:rPr>
                  <a:t>quality,trust</a:t>
                </a:r>
                <a:r>
                  <a:rPr lang="en-US" sz="1200" dirty="0">
                    <a:solidFill>
                      <a:srgbClr val="3F3F3F"/>
                    </a:solidFill>
                    <a:latin typeface="Twentieth Century"/>
                    <a:ea typeface="Twentieth Century"/>
                    <a:cs typeface="Twentieth Century"/>
                    <a:sym typeface="Twentieth Century"/>
                  </a:rPr>
                  <a:t> and net </a:t>
                </a:r>
                <a:r>
                  <a:rPr lang="en-US" sz="1200" dirty="0" err="1">
                    <a:solidFill>
                      <a:srgbClr val="3F3F3F"/>
                    </a:solidFill>
                    <a:latin typeface="Twentieth Century"/>
                    <a:ea typeface="Twentieth Century"/>
                    <a:cs typeface="Twentieth Century"/>
                    <a:sym typeface="Twentieth Century"/>
                  </a:rPr>
                  <a:t>benifits</a:t>
                </a:r>
                <a:r>
                  <a:rPr lang="en-US" sz="1200" dirty="0">
                    <a:solidFill>
                      <a:srgbClr val="3F3F3F"/>
                    </a:solidFill>
                    <a:latin typeface="Twentieth Century"/>
                    <a:ea typeface="Twentieth Century"/>
                    <a:cs typeface="Twentieth Century"/>
                    <a:sym typeface="Twentieth Century"/>
                  </a:rPr>
                  <a:t> are the key factors.</a:t>
                </a:r>
                <a:endParaRPr dirty="0"/>
              </a:p>
            </p:txBody>
          </p:sp>
        </p:grpSp>
        <p:pic>
          <p:nvPicPr>
            <p:cNvPr id="116" name="Google Shape;116;p14"/>
            <p:cNvPicPr preferRelativeResize="0"/>
            <p:nvPr/>
          </p:nvPicPr>
          <p:blipFill rotWithShape="1">
            <a:blip r:embed="rId5">
              <a:alphaModFix/>
            </a:blip>
            <a:srcRect/>
            <a:stretch/>
          </p:blipFill>
          <p:spPr>
            <a:xfrm>
              <a:off x="3427040" y="4133578"/>
              <a:ext cx="320494" cy="320494"/>
            </a:xfrm>
            <a:prstGeom prst="rect">
              <a:avLst/>
            </a:prstGeom>
            <a:noFill/>
            <a:ln>
              <a:noFill/>
            </a:ln>
          </p:spPr>
        </p:pic>
      </p:grpSp>
      <p:sp>
        <p:nvSpPr>
          <p:cNvPr id="117" name="Google Shape;117;p14"/>
          <p:cNvSpPr txBox="1"/>
          <p:nvPr/>
        </p:nvSpPr>
        <p:spPr>
          <a:xfrm>
            <a:off x="609600" y="1219200"/>
            <a:ext cx="81534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This is a case study on Indian E-</a:t>
            </a:r>
            <a:r>
              <a:rPr lang="en-US" sz="1800" dirty="0" err="1">
                <a:solidFill>
                  <a:schemeClr val="dk1"/>
                </a:solidFill>
                <a:latin typeface="Calibri"/>
                <a:ea typeface="Calibri"/>
                <a:cs typeface="Calibri"/>
                <a:sym typeface="Calibri"/>
              </a:rPr>
              <a:t>commerece</a:t>
            </a:r>
            <a:r>
              <a:rPr lang="en-US" sz="1800" dirty="0">
                <a:solidFill>
                  <a:schemeClr val="dk1"/>
                </a:solidFill>
                <a:latin typeface="Calibri"/>
                <a:ea typeface="Calibri"/>
                <a:cs typeface="Calibri"/>
                <a:sym typeface="Calibri"/>
              </a:rPr>
              <a:t> customers to know which are the major factor for activation and retention of the customers, Customer satisfaction has emerged as one of the most important factors that guarantee the success of online store</a:t>
            </a:r>
            <a:endParaRPr sz="18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500"/>
                                        <p:tgtEl>
                                          <p:spTgt spid="1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fade">
                                      <p:cBhvr>
                                        <p:cTn id="17" dur="500"/>
                                        <p:tgtEl>
                                          <p:spTgt spid="1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fade">
                                      <p:cBhvr>
                                        <p:cTn id="22"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grpSp>
        <p:nvGrpSpPr>
          <p:cNvPr id="122" name="Google Shape;122;p15"/>
          <p:cNvGrpSpPr/>
          <p:nvPr/>
        </p:nvGrpSpPr>
        <p:grpSpPr>
          <a:xfrm>
            <a:off x="-666916" y="107183"/>
            <a:ext cx="9520922" cy="6728762"/>
            <a:chOff x="287189" y="87211"/>
            <a:chExt cx="9996176" cy="6728762"/>
          </a:xfrm>
        </p:grpSpPr>
        <p:sp>
          <p:nvSpPr>
            <p:cNvPr id="123" name="Google Shape;123;p15"/>
            <p:cNvSpPr/>
            <p:nvPr/>
          </p:nvSpPr>
          <p:spPr>
            <a:xfrm rot="3948120">
              <a:off x="3919986" y="5398853"/>
              <a:ext cx="1540852" cy="477329"/>
            </a:xfrm>
            <a:prstGeom prst="rect">
              <a:avLst/>
            </a:prstGeom>
            <a:solidFill>
              <a:srgbClr val="3F3F3F">
                <a:alpha val="4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15"/>
            <p:cNvSpPr/>
            <p:nvPr/>
          </p:nvSpPr>
          <p:spPr>
            <a:xfrm rot="3104278">
              <a:off x="4919788" y="4862722"/>
              <a:ext cx="1540852" cy="477329"/>
            </a:xfrm>
            <a:prstGeom prst="rect">
              <a:avLst/>
            </a:prstGeom>
            <a:solidFill>
              <a:srgbClr val="3F3F3F">
                <a:alpha val="4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 name="Google Shape;125;p15"/>
            <p:cNvSpPr/>
            <p:nvPr/>
          </p:nvSpPr>
          <p:spPr>
            <a:xfrm rot="1655699">
              <a:off x="5472015" y="4082076"/>
              <a:ext cx="1540852" cy="477329"/>
            </a:xfrm>
            <a:prstGeom prst="rect">
              <a:avLst/>
            </a:prstGeom>
            <a:solidFill>
              <a:srgbClr val="3F3F3F">
                <a:alpha val="4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15"/>
            <p:cNvSpPr/>
            <p:nvPr/>
          </p:nvSpPr>
          <p:spPr>
            <a:xfrm>
              <a:off x="5661977" y="3118156"/>
              <a:ext cx="1540852" cy="478725"/>
            </a:xfrm>
            <a:prstGeom prst="rect">
              <a:avLst/>
            </a:prstGeom>
            <a:solidFill>
              <a:srgbClr val="3F3F3F">
                <a:alpha val="4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15"/>
            <p:cNvSpPr/>
            <p:nvPr/>
          </p:nvSpPr>
          <p:spPr>
            <a:xfrm rot="-1410906">
              <a:off x="5548128" y="2237586"/>
              <a:ext cx="1149057" cy="478725"/>
            </a:xfrm>
            <a:prstGeom prst="rect">
              <a:avLst/>
            </a:prstGeom>
            <a:solidFill>
              <a:srgbClr val="3F3F3F">
                <a:alpha val="4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15"/>
            <p:cNvSpPr/>
            <p:nvPr/>
          </p:nvSpPr>
          <p:spPr>
            <a:xfrm rot="5400000">
              <a:off x="1703913" y="940738"/>
              <a:ext cx="3488785" cy="4976525"/>
            </a:xfrm>
            <a:prstGeom prst="round2SameRect">
              <a:avLst>
                <a:gd name="adj1" fmla="val 50000"/>
                <a:gd name="adj2" fmla="val 0"/>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15"/>
            <p:cNvSpPr/>
            <p:nvPr/>
          </p:nvSpPr>
          <p:spPr>
            <a:xfrm rot="-3092666">
              <a:off x="4789101" y="1345105"/>
              <a:ext cx="1149057" cy="478725"/>
            </a:xfrm>
            <a:prstGeom prst="rect">
              <a:avLst/>
            </a:prstGeom>
            <a:solidFill>
              <a:srgbClr val="3F3F3F">
                <a:alpha val="4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15"/>
            <p:cNvSpPr/>
            <p:nvPr/>
          </p:nvSpPr>
          <p:spPr>
            <a:xfrm>
              <a:off x="5134198" y="1941735"/>
              <a:ext cx="331402" cy="293894"/>
            </a:xfrm>
            <a:prstGeom prst="rtTriangl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5"/>
            <p:cNvSpPr/>
            <p:nvPr/>
          </p:nvSpPr>
          <p:spPr>
            <a:xfrm rot="-9523142">
              <a:off x="4976501" y="674116"/>
              <a:ext cx="436098" cy="1628683"/>
            </a:xfrm>
            <a:custGeom>
              <a:avLst/>
              <a:gdLst/>
              <a:ahLst/>
              <a:cxnLst/>
              <a:rect l="l" t="t" r="r" b="b"/>
              <a:pathLst>
                <a:path w="436098" h="1628683" extrusionOk="0">
                  <a:moveTo>
                    <a:pt x="436098" y="1628683"/>
                  </a:moveTo>
                  <a:lnTo>
                    <a:pt x="218049" y="1413507"/>
                  </a:lnTo>
                  <a:lnTo>
                    <a:pt x="0" y="1628683"/>
                  </a:lnTo>
                  <a:lnTo>
                    <a:pt x="0" y="86234"/>
                  </a:lnTo>
                  <a:lnTo>
                    <a:pt x="436098" y="0"/>
                  </a:lnTo>
                  <a:close/>
                </a:path>
              </a:pathLst>
            </a:custGeom>
            <a:solidFill>
              <a:srgbClr val="E8D5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 name="Google Shape;132;p15"/>
            <p:cNvSpPr/>
            <p:nvPr/>
          </p:nvSpPr>
          <p:spPr>
            <a:xfrm rot="1705832">
              <a:off x="5659501" y="2630855"/>
              <a:ext cx="306357" cy="293894"/>
            </a:xfrm>
            <a:prstGeom prst="rtTriangl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5"/>
            <p:cNvSpPr/>
            <p:nvPr/>
          </p:nvSpPr>
          <p:spPr>
            <a:xfrm rot="-7536801">
              <a:off x="5889211" y="1395064"/>
              <a:ext cx="436098" cy="1673842"/>
            </a:xfrm>
            <a:custGeom>
              <a:avLst/>
              <a:gdLst/>
              <a:ahLst/>
              <a:cxnLst/>
              <a:rect l="l" t="t" r="r" b="b"/>
              <a:pathLst>
                <a:path w="436098" h="1673842" extrusionOk="0">
                  <a:moveTo>
                    <a:pt x="436098" y="1673842"/>
                  </a:moveTo>
                  <a:lnTo>
                    <a:pt x="218049" y="1458665"/>
                  </a:lnTo>
                  <a:lnTo>
                    <a:pt x="0" y="1673842"/>
                  </a:lnTo>
                  <a:lnTo>
                    <a:pt x="0" y="86239"/>
                  </a:lnTo>
                  <a:lnTo>
                    <a:pt x="436098" y="0"/>
                  </a:lnTo>
                  <a:close/>
                </a:path>
              </a:pathLst>
            </a:custGeom>
            <a:solidFill>
              <a:srgbClr val="E7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15"/>
            <p:cNvSpPr/>
            <p:nvPr/>
          </p:nvSpPr>
          <p:spPr>
            <a:xfrm rot="-3324029">
              <a:off x="5572636" y="4010824"/>
              <a:ext cx="178683" cy="240977"/>
            </a:xfrm>
            <a:prstGeom prst="rtTriangl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15"/>
            <p:cNvSpPr/>
            <p:nvPr/>
          </p:nvSpPr>
          <p:spPr>
            <a:xfrm rot="-4477971">
              <a:off x="6207546" y="3278865"/>
              <a:ext cx="436098" cy="1764445"/>
            </a:xfrm>
            <a:custGeom>
              <a:avLst/>
              <a:gdLst/>
              <a:ahLst/>
              <a:cxnLst/>
              <a:rect l="l" t="t" r="r" b="b"/>
              <a:pathLst>
                <a:path w="436098" h="1764445" extrusionOk="0">
                  <a:moveTo>
                    <a:pt x="436098" y="150346"/>
                  </a:moveTo>
                  <a:lnTo>
                    <a:pt x="436098" y="1764445"/>
                  </a:lnTo>
                  <a:lnTo>
                    <a:pt x="218049" y="1549269"/>
                  </a:lnTo>
                  <a:lnTo>
                    <a:pt x="0" y="1764445"/>
                  </a:lnTo>
                  <a:lnTo>
                    <a:pt x="0" y="0"/>
                  </a:lnTo>
                  <a:lnTo>
                    <a:pt x="25337" y="0"/>
                  </a:lnTo>
                  <a:close/>
                </a:path>
              </a:pathLst>
            </a:custGeom>
            <a:solidFill>
              <a:srgbClr val="2F2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5"/>
            <p:cNvSpPr/>
            <p:nvPr/>
          </p:nvSpPr>
          <p:spPr>
            <a:xfrm>
              <a:off x="4196551" y="5012634"/>
              <a:ext cx="179489" cy="153204"/>
            </a:xfrm>
            <a:prstGeom prst="rtTriangl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15"/>
            <p:cNvSpPr/>
            <p:nvPr/>
          </p:nvSpPr>
          <p:spPr>
            <a:xfrm rot="-1985820">
              <a:off x="4625024" y="4757923"/>
              <a:ext cx="436098" cy="1698910"/>
            </a:xfrm>
            <a:custGeom>
              <a:avLst/>
              <a:gdLst/>
              <a:ahLst/>
              <a:cxnLst/>
              <a:rect l="l" t="t" r="r" b="b"/>
              <a:pathLst>
                <a:path w="436098" h="1698910" extrusionOk="0">
                  <a:moveTo>
                    <a:pt x="436098" y="105319"/>
                  </a:moveTo>
                  <a:lnTo>
                    <a:pt x="436098" y="1698910"/>
                  </a:lnTo>
                  <a:lnTo>
                    <a:pt x="218049" y="1483734"/>
                  </a:lnTo>
                  <a:lnTo>
                    <a:pt x="0" y="1698910"/>
                  </a:lnTo>
                  <a:lnTo>
                    <a:pt x="0" y="0"/>
                  </a:lnTo>
                  <a:close/>
                </a:path>
              </a:pathLst>
            </a:custGeom>
            <a:solidFill>
              <a:srgbClr val="800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15"/>
            <p:cNvSpPr/>
            <p:nvPr/>
          </p:nvSpPr>
          <p:spPr>
            <a:xfrm rot="-4653504">
              <a:off x="5751463" y="3399816"/>
              <a:ext cx="169768" cy="220442"/>
            </a:xfrm>
            <a:prstGeom prst="rtTriangl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15"/>
            <p:cNvSpPr/>
            <p:nvPr/>
          </p:nvSpPr>
          <p:spPr>
            <a:xfrm rot="-6247586">
              <a:off x="6298728" y="2258735"/>
              <a:ext cx="436098" cy="1764445"/>
            </a:xfrm>
            <a:custGeom>
              <a:avLst/>
              <a:gdLst/>
              <a:ahLst/>
              <a:cxnLst/>
              <a:rect l="l" t="t" r="r" b="b"/>
              <a:pathLst>
                <a:path w="436098" h="2307101" extrusionOk="0">
                  <a:moveTo>
                    <a:pt x="0" y="0"/>
                  </a:moveTo>
                  <a:lnTo>
                    <a:pt x="436098" y="0"/>
                  </a:lnTo>
                  <a:lnTo>
                    <a:pt x="436098" y="2307101"/>
                  </a:lnTo>
                  <a:lnTo>
                    <a:pt x="218049" y="2025747"/>
                  </a:lnTo>
                  <a:lnTo>
                    <a:pt x="0" y="2307101"/>
                  </a:lnTo>
                  <a:close/>
                </a:path>
              </a:pathLst>
            </a:custGeom>
            <a:solidFill>
              <a:srgbClr val="1B998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15"/>
            <p:cNvSpPr/>
            <p:nvPr/>
          </p:nvSpPr>
          <p:spPr>
            <a:xfrm rot="-1267052">
              <a:off x="5115757" y="4646951"/>
              <a:ext cx="179489" cy="197657"/>
            </a:xfrm>
            <a:prstGeom prst="rtTriangl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 name="Google Shape;141;p15"/>
            <p:cNvSpPr/>
            <p:nvPr/>
          </p:nvSpPr>
          <p:spPr>
            <a:xfrm rot="-3101354">
              <a:off x="5622653" y="4146269"/>
              <a:ext cx="436098" cy="1732730"/>
            </a:xfrm>
            <a:custGeom>
              <a:avLst/>
              <a:gdLst/>
              <a:ahLst/>
              <a:cxnLst/>
              <a:rect l="l" t="t" r="r" b="b"/>
              <a:pathLst>
                <a:path w="436098" h="1732730" extrusionOk="0">
                  <a:moveTo>
                    <a:pt x="436098" y="0"/>
                  </a:moveTo>
                  <a:lnTo>
                    <a:pt x="436098" y="1732730"/>
                  </a:lnTo>
                  <a:lnTo>
                    <a:pt x="218049" y="1517554"/>
                  </a:lnTo>
                  <a:lnTo>
                    <a:pt x="0" y="1732730"/>
                  </a:lnTo>
                  <a:lnTo>
                    <a:pt x="0" y="64478"/>
                  </a:lnTo>
                  <a:close/>
                </a:path>
              </a:pathLst>
            </a:custGeom>
            <a:solidFill>
              <a:srgbClr val="F4613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42" name="Google Shape;142;p15"/>
            <p:cNvGrpSpPr/>
            <p:nvPr/>
          </p:nvGrpSpPr>
          <p:grpSpPr>
            <a:xfrm>
              <a:off x="5580284" y="87211"/>
              <a:ext cx="3797563" cy="995599"/>
              <a:chOff x="5580284" y="87211"/>
              <a:chExt cx="3797563" cy="995599"/>
            </a:xfrm>
          </p:grpSpPr>
          <p:sp>
            <p:nvSpPr>
              <p:cNvPr id="143" name="Google Shape;143;p15"/>
              <p:cNvSpPr txBox="1"/>
              <p:nvPr/>
            </p:nvSpPr>
            <p:spPr>
              <a:xfrm>
                <a:off x="5580284" y="87211"/>
                <a:ext cx="305161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C00000"/>
                    </a:solidFill>
                    <a:latin typeface="Century Gothic"/>
                    <a:ea typeface="Century Gothic"/>
                    <a:cs typeface="Century Gothic"/>
                    <a:sym typeface="Century Gothic"/>
                  </a:rPr>
                  <a:t>Basic outlook over the project</a:t>
                </a:r>
                <a:endParaRPr sz="1400" b="1" dirty="0">
                  <a:solidFill>
                    <a:srgbClr val="C00000"/>
                  </a:solidFill>
                  <a:latin typeface="Century Gothic"/>
                  <a:ea typeface="Century Gothic"/>
                  <a:cs typeface="Century Gothic"/>
                  <a:sym typeface="Century Gothic"/>
                </a:endParaRPr>
              </a:p>
            </p:txBody>
          </p:sp>
          <p:sp>
            <p:nvSpPr>
              <p:cNvPr id="144" name="Google Shape;144;p15"/>
              <p:cNvSpPr txBox="1"/>
              <p:nvPr/>
            </p:nvSpPr>
            <p:spPr>
              <a:xfrm>
                <a:off x="5580284" y="344146"/>
                <a:ext cx="3797563"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Quattrocento Sans"/>
                    <a:ea typeface="Quattrocento Sans"/>
                    <a:cs typeface="Quattrocento Sans"/>
                    <a:sym typeface="Quattrocento Sans"/>
                  </a:rPr>
                  <a:t>This slide talk about the aim of the </a:t>
                </a:r>
                <a:r>
                  <a:rPr lang="en-US" sz="1400" dirty="0" err="1">
                    <a:solidFill>
                      <a:srgbClr val="7F7F7F"/>
                    </a:solidFill>
                    <a:latin typeface="Quattrocento Sans"/>
                    <a:ea typeface="Quattrocento Sans"/>
                    <a:cs typeface="Quattrocento Sans"/>
                    <a:sym typeface="Quattrocento Sans"/>
                  </a:rPr>
                  <a:t>project,Informations</a:t>
                </a:r>
                <a:r>
                  <a:rPr lang="en-US" sz="1400" dirty="0">
                    <a:solidFill>
                      <a:srgbClr val="7F7F7F"/>
                    </a:solidFill>
                    <a:latin typeface="Quattrocento Sans"/>
                    <a:ea typeface="Quattrocento Sans"/>
                    <a:cs typeface="Quattrocento Sans"/>
                    <a:sym typeface="Quattrocento Sans"/>
                  </a:rPr>
                  <a:t> to be drawn for better conclusions etc.</a:t>
                </a:r>
                <a:endParaRPr sz="1400" dirty="0">
                  <a:solidFill>
                    <a:srgbClr val="7F7F7F"/>
                  </a:solidFill>
                  <a:latin typeface="Quattrocento Sans"/>
                  <a:ea typeface="Quattrocento Sans"/>
                  <a:cs typeface="Quattrocento Sans"/>
                  <a:sym typeface="Quattrocento Sans"/>
                </a:endParaRPr>
              </a:p>
            </p:txBody>
          </p:sp>
        </p:grpSp>
        <p:grpSp>
          <p:nvGrpSpPr>
            <p:cNvPr id="145" name="Google Shape;145;p15"/>
            <p:cNvGrpSpPr/>
            <p:nvPr/>
          </p:nvGrpSpPr>
          <p:grpSpPr>
            <a:xfrm>
              <a:off x="6786278" y="1093622"/>
              <a:ext cx="3497087" cy="912365"/>
              <a:chOff x="5421615" y="87211"/>
              <a:chExt cx="3497087" cy="912365"/>
            </a:xfrm>
          </p:grpSpPr>
          <p:sp>
            <p:nvSpPr>
              <p:cNvPr id="146" name="Google Shape;146;p15"/>
              <p:cNvSpPr txBox="1"/>
              <p:nvPr/>
            </p:nvSpPr>
            <p:spPr>
              <a:xfrm>
                <a:off x="5580284" y="87211"/>
                <a:ext cx="2432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E71D35"/>
                    </a:solidFill>
                    <a:latin typeface="Century Gothic"/>
                    <a:ea typeface="Century Gothic"/>
                    <a:cs typeface="Century Gothic"/>
                    <a:sym typeface="Century Gothic"/>
                  </a:rPr>
                  <a:t>Processing of data</a:t>
                </a:r>
                <a:endParaRPr sz="1400" b="1" dirty="0">
                  <a:solidFill>
                    <a:srgbClr val="E71D35"/>
                  </a:solidFill>
                  <a:latin typeface="Century Gothic"/>
                  <a:ea typeface="Century Gothic"/>
                  <a:cs typeface="Century Gothic"/>
                  <a:sym typeface="Century Gothic"/>
                </a:endParaRPr>
              </a:p>
            </p:txBody>
          </p:sp>
          <p:sp>
            <p:nvSpPr>
              <p:cNvPr id="147" name="Google Shape;147;p15"/>
              <p:cNvSpPr txBox="1"/>
              <p:nvPr/>
            </p:nvSpPr>
            <p:spPr>
              <a:xfrm>
                <a:off x="5421615" y="476356"/>
                <a:ext cx="349708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Quattrocento Sans"/>
                    <a:ea typeface="Quattrocento Sans"/>
                    <a:cs typeface="Quattrocento Sans"/>
                    <a:sym typeface="Quattrocento Sans"/>
                  </a:rPr>
                  <a:t>This slide talk about preprocessing of the data</a:t>
                </a:r>
                <a:endParaRPr sz="1400" dirty="0">
                  <a:solidFill>
                    <a:srgbClr val="7F7F7F"/>
                  </a:solidFill>
                  <a:latin typeface="Quattrocento Sans"/>
                  <a:ea typeface="Quattrocento Sans"/>
                  <a:cs typeface="Quattrocento Sans"/>
                  <a:sym typeface="Quattrocento Sans"/>
                </a:endParaRPr>
              </a:p>
            </p:txBody>
          </p:sp>
        </p:grpSp>
        <p:grpSp>
          <p:nvGrpSpPr>
            <p:cNvPr id="148" name="Google Shape;148;p15"/>
            <p:cNvGrpSpPr/>
            <p:nvPr/>
          </p:nvGrpSpPr>
          <p:grpSpPr>
            <a:xfrm>
              <a:off x="7610732" y="2476948"/>
              <a:ext cx="2636099" cy="995599"/>
              <a:chOff x="5580284" y="87211"/>
              <a:chExt cx="2636099" cy="995599"/>
            </a:xfrm>
          </p:grpSpPr>
          <p:sp>
            <p:nvSpPr>
              <p:cNvPr id="149" name="Google Shape;149;p15"/>
              <p:cNvSpPr txBox="1"/>
              <p:nvPr/>
            </p:nvSpPr>
            <p:spPr>
              <a:xfrm>
                <a:off x="5580284" y="87211"/>
                <a:ext cx="2432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1B998B"/>
                    </a:solidFill>
                    <a:latin typeface="Century Gothic"/>
                    <a:ea typeface="Century Gothic"/>
                    <a:cs typeface="Century Gothic"/>
                    <a:sym typeface="Century Gothic"/>
                  </a:rPr>
                  <a:t>Univariate Analysis</a:t>
                </a:r>
                <a:endParaRPr sz="1400" b="1" dirty="0">
                  <a:solidFill>
                    <a:srgbClr val="1B998B"/>
                  </a:solidFill>
                  <a:latin typeface="Century Gothic"/>
                  <a:ea typeface="Century Gothic"/>
                  <a:cs typeface="Century Gothic"/>
                  <a:sym typeface="Century Gothic"/>
                </a:endParaRPr>
              </a:p>
            </p:txBody>
          </p:sp>
          <p:sp>
            <p:nvSpPr>
              <p:cNvPr id="150" name="Google Shape;150;p15"/>
              <p:cNvSpPr txBox="1"/>
              <p:nvPr/>
            </p:nvSpPr>
            <p:spPr>
              <a:xfrm>
                <a:off x="5580284" y="344146"/>
                <a:ext cx="2636099"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Quattrocento Sans"/>
                    <a:ea typeface="Quattrocento Sans"/>
                    <a:cs typeface="Quattrocento Sans"/>
                    <a:sym typeface="Quattrocento Sans"/>
                  </a:rPr>
                  <a:t>This slide talk about the analysis of independent variables</a:t>
                </a:r>
                <a:endParaRPr sz="1400" dirty="0">
                  <a:solidFill>
                    <a:srgbClr val="7F7F7F"/>
                  </a:solidFill>
                  <a:latin typeface="Quattrocento Sans"/>
                  <a:ea typeface="Quattrocento Sans"/>
                  <a:cs typeface="Quattrocento Sans"/>
                  <a:sym typeface="Quattrocento Sans"/>
                </a:endParaRPr>
              </a:p>
            </p:txBody>
          </p:sp>
        </p:grpSp>
        <p:grpSp>
          <p:nvGrpSpPr>
            <p:cNvPr id="151" name="Google Shape;151;p15"/>
            <p:cNvGrpSpPr/>
            <p:nvPr/>
          </p:nvGrpSpPr>
          <p:grpSpPr>
            <a:xfrm>
              <a:off x="7459157" y="4047932"/>
              <a:ext cx="2636099" cy="995599"/>
              <a:chOff x="5580284" y="87211"/>
              <a:chExt cx="2636099" cy="995599"/>
            </a:xfrm>
          </p:grpSpPr>
          <p:sp>
            <p:nvSpPr>
              <p:cNvPr id="152" name="Google Shape;152;p15"/>
              <p:cNvSpPr txBox="1"/>
              <p:nvPr/>
            </p:nvSpPr>
            <p:spPr>
              <a:xfrm>
                <a:off x="5580284" y="87211"/>
                <a:ext cx="2432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2F294F"/>
                    </a:solidFill>
                    <a:latin typeface="Century Gothic"/>
                    <a:ea typeface="Century Gothic"/>
                    <a:cs typeface="Century Gothic"/>
                    <a:sym typeface="Century Gothic"/>
                  </a:rPr>
                  <a:t>Bi variate Analysis</a:t>
                </a:r>
                <a:endParaRPr sz="1400" b="1" dirty="0">
                  <a:solidFill>
                    <a:srgbClr val="2F294F"/>
                  </a:solidFill>
                  <a:latin typeface="Century Gothic"/>
                  <a:ea typeface="Century Gothic"/>
                  <a:cs typeface="Century Gothic"/>
                  <a:sym typeface="Century Gothic"/>
                </a:endParaRPr>
              </a:p>
            </p:txBody>
          </p:sp>
          <p:sp>
            <p:nvSpPr>
              <p:cNvPr id="153" name="Google Shape;153;p15"/>
              <p:cNvSpPr txBox="1"/>
              <p:nvPr/>
            </p:nvSpPr>
            <p:spPr>
              <a:xfrm>
                <a:off x="5580284" y="344146"/>
                <a:ext cx="2636099"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Quattrocento Sans"/>
                    <a:ea typeface="Quattrocento Sans"/>
                    <a:cs typeface="Quattrocento Sans"/>
                    <a:sym typeface="Quattrocento Sans"/>
                  </a:rPr>
                  <a:t>This slide talk about the relationship between two variables.</a:t>
                </a:r>
                <a:endParaRPr sz="1400" dirty="0">
                  <a:solidFill>
                    <a:srgbClr val="7F7F7F"/>
                  </a:solidFill>
                  <a:latin typeface="Quattrocento Sans"/>
                  <a:ea typeface="Quattrocento Sans"/>
                  <a:cs typeface="Quattrocento Sans"/>
                  <a:sym typeface="Quattrocento Sans"/>
                </a:endParaRPr>
              </a:p>
            </p:txBody>
          </p:sp>
        </p:grpSp>
        <p:grpSp>
          <p:nvGrpSpPr>
            <p:cNvPr id="154" name="Google Shape;154;p15"/>
            <p:cNvGrpSpPr/>
            <p:nvPr/>
          </p:nvGrpSpPr>
          <p:grpSpPr>
            <a:xfrm>
              <a:off x="6813743" y="5213548"/>
              <a:ext cx="2866332" cy="1002868"/>
              <a:chOff x="5580284" y="87211"/>
              <a:chExt cx="2866332" cy="1002868"/>
            </a:xfrm>
          </p:grpSpPr>
          <p:sp>
            <p:nvSpPr>
              <p:cNvPr id="155" name="Google Shape;155;p15"/>
              <p:cNvSpPr txBox="1"/>
              <p:nvPr/>
            </p:nvSpPr>
            <p:spPr>
              <a:xfrm>
                <a:off x="5580284" y="87211"/>
                <a:ext cx="2432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F46136"/>
                    </a:solidFill>
                    <a:latin typeface="Century Gothic"/>
                    <a:ea typeface="Century Gothic"/>
                    <a:cs typeface="Century Gothic"/>
                    <a:sym typeface="Century Gothic"/>
                  </a:rPr>
                  <a:t>Multivariate Analysis</a:t>
                </a:r>
                <a:endParaRPr sz="1400" b="1" dirty="0">
                  <a:solidFill>
                    <a:srgbClr val="F46136"/>
                  </a:solidFill>
                  <a:latin typeface="Century Gothic"/>
                  <a:ea typeface="Century Gothic"/>
                  <a:cs typeface="Century Gothic"/>
                  <a:sym typeface="Century Gothic"/>
                </a:endParaRPr>
              </a:p>
            </p:txBody>
          </p:sp>
          <p:sp>
            <p:nvSpPr>
              <p:cNvPr id="156" name="Google Shape;156;p15"/>
              <p:cNvSpPr txBox="1"/>
              <p:nvPr/>
            </p:nvSpPr>
            <p:spPr>
              <a:xfrm>
                <a:off x="5810517" y="351415"/>
                <a:ext cx="2636099"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Quattrocento Sans"/>
                    <a:ea typeface="Quattrocento Sans"/>
                    <a:cs typeface="Quattrocento Sans"/>
                    <a:sym typeface="Quattrocento Sans"/>
                  </a:rPr>
                  <a:t>Here we are going to look the relationship between more than 2 variable</a:t>
                </a:r>
                <a:endParaRPr sz="1400" dirty="0">
                  <a:solidFill>
                    <a:srgbClr val="7F7F7F"/>
                  </a:solidFill>
                  <a:latin typeface="Quattrocento Sans"/>
                  <a:ea typeface="Quattrocento Sans"/>
                  <a:cs typeface="Quattrocento Sans"/>
                  <a:sym typeface="Quattrocento Sans"/>
                </a:endParaRPr>
              </a:p>
            </p:txBody>
          </p:sp>
        </p:grpSp>
        <p:grpSp>
          <p:nvGrpSpPr>
            <p:cNvPr id="157" name="Google Shape;157;p15"/>
            <p:cNvGrpSpPr/>
            <p:nvPr/>
          </p:nvGrpSpPr>
          <p:grpSpPr>
            <a:xfrm>
              <a:off x="5512067" y="6035818"/>
              <a:ext cx="4376883" cy="780155"/>
              <a:chOff x="5580284" y="87211"/>
              <a:chExt cx="4376883" cy="780155"/>
            </a:xfrm>
          </p:grpSpPr>
          <p:sp>
            <p:nvSpPr>
              <p:cNvPr id="158" name="Google Shape;158;p15"/>
              <p:cNvSpPr txBox="1"/>
              <p:nvPr/>
            </p:nvSpPr>
            <p:spPr>
              <a:xfrm>
                <a:off x="5580284" y="87211"/>
                <a:ext cx="2432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rgbClr val="800080"/>
                    </a:solidFill>
                    <a:latin typeface="Century Gothic"/>
                    <a:ea typeface="Century Gothic"/>
                    <a:cs typeface="Century Gothic"/>
                    <a:sym typeface="Century Gothic"/>
                  </a:rPr>
                  <a:t>Conclusion</a:t>
                </a:r>
                <a:endParaRPr sz="1400" b="1" dirty="0">
                  <a:solidFill>
                    <a:srgbClr val="800080"/>
                  </a:solidFill>
                  <a:latin typeface="Century Gothic"/>
                  <a:ea typeface="Century Gothic"/>
                  <a:cs typeface="Century Gothic"/>
                  <a:sym typeface="Century Gothic"/>
                </a:endParaRPr>
              </a:p>
            </p:txBody>
          </p:sp>
          <p:sp>
            <p:nvSpPr>
              <p:cNvPr id="159" name="Google Shape;159;p15"/>
              <p:cNvSpPr txBox="1"/>
              <p:nvPr/>
            </p:nvSpPr>
            <p:spPr>
              <a:xfrm>
                <a:off x="5580284" y="344146"/>
                <a:ext cx="43768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Quattrocento Sans"/>
                    <a:ea typeface="Quattrocento Sans"/>
                    <a:cs typeface="Quattrocento Sans"/>
                    <a:sym typeface="Quattrocento Sans"/>
                  </a:rPr>
                  <a:t>This final slide talk about the summary of the </a:t>
                </a:r>
                <a:r>
                  <a:rPr lang="en-US" sz="1400" dirty="0" err="1">
                    <a:solidFill>
                      <a:srgbClr val="7F7F7F"/>
                    </a:solidFill>
                    <a:latin typeface="Quattrocento Sans"/>
                    <a:ea typeface="Quattrocento Sans"/>
                    <a:cs typeface="Quattrocento Sans"/>
                    <a:sym typeface="Quattrocento Sans"/>
                  </a:rPr>
                  <a:t>inforamtion</a:t>
                </a:r>
                <a:r>
                  <a:rPr lang="en-US" sz="1400" dirty="0">
                    <a:solidFill>
                      <a:srgbClr val="7F7F7F"/>
                    </a:solidFill>
                    <a:latin typeface="Quattrocento Sans"/>
                    <a:ea typeface="Quattrocento Sans"/>
                    <a:cs typeface="Quattrocento Sans"/>
                    <a:sym typeface="Quattrocento Sans"/>
                  </a:rPr>
                  <a:t> drawn from the analysis</a:t>
                </a:r>
                <a:endParaRPr sz="1400" dirty="0">
                  <a:solidFill>
                    <a:srgbClr val="7F7F7F"/>
                  </a:solidFill>
                  <a:latin typeface="Quattrocento Sans"/>
                  <a:ea typeface="Quattrocento Sans"/>
                  <a:cs typeface="Quattrocento Sans"/>
                  <a:sym typeface="Quattrocento Sans"/>
                </a:endParaRPr>
              </a:p>
            </p:txBody>
          </p:sp>
        </p:grpSp>
        <p:sp>
          <p:nvSpPr>
            <p:cNvPr id="160" name="Google Shape;160;p15"/>
            <p:cNvSpPr txBox="1"/>
            <p:nvPr/>
          </p:nvSpPr>
          <p:spPr>
            <a:xfrm>
              <a:off x="1038776" y="3081826"/>
              <a:ext cx="4234507"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rgbClr val="7F7F7F"/>
                  </a:solidFill>
                  <a:latin typeface="Arial Black"/>
                  <a:ea typeface="Arial Black"/>
                  <a:cs typeface="Arial Black"/>
                  <a:sym typeface="Arial Black"/>
                </a:rPr>
                <a:t>Project Flow</a:t>
              </a:r>
              <a:endParaRPr sz="3600" dirty="0">
                <a:solidFill>
                  <a:srgbClr val="7F7F7F"/>
                </a:solidFill>
                <a:latin typeface="Arial Black"/>
                <a:ea typeface="Arial Black"/>
                <a:cs typeface="Arial Black"/>
                <a:sym typeface="Arial Black"/>
              </a:endParaRPr>
            </a:p>
          </p:txBody>
        </p:sp>
        <p:sp>
          <p:nvSpPr>
            <p:cNvPr id="161" name="Google Shape;161;p15"/>
            <p:cNvSpPr txBox="1"/>
            <p:nvPr/>
          </p:nvSpPr>
          <p:spPr>
            <a:xfrm>
              <a:off x="287189" y="3532228"/>
              <a:ext cx="4264515"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1100">
                <a:solidFill>
                  <a:srgbClr val="7F7F7F"/>
                </a:solidFill>
                <a:latin typeface="Calibri"/>
                <a:ea typeface="Calibri"/>
                <a:cs typeface="Calibri"/>
                <a:sym typeface="Calibri"/>
              </a:endParaRPr>
            </a:p>
          </p:txBody>
        </p:sp>
        <p:pic>
          <p:nvPicPr>
            <p:cNvPr id="162" name="Google Shape;162;p15" descr="Presentation with bar chart RTL"/>
            <p:cNvPicPr preferRelativeResize="0"/>
            <p:nvPr/>
          </p:nvPicPr>
          <p:blipFill rotWithShape="1">
            <a:blip r:embed="rId3">
              <a:alphaModFix/>
            </a:blip>
            <a:srcRect/>
            <a:stretch/>
          </p:blipFill>
          <p:spPr>
            <a:xfrm>
              <a:off x="8777206" y="1093622"/>
              <a:ext cx="365760" cy="365760"/>
            </a:xfrm>
            <a:prstGeom prst="rect">
              <a:avLst/>
            </a:prstGeom>
            <a:noFill/>
            <a:ln>
              <a:noFill/>
            </a:ln>
          </p:spPr>
        </p:pic>
        <p:pic>
          <p:nvPicPr>
            <p:cNvPr id="163" name="Google Shape;163;p15" descr="Stopwatch"/>
            <p:cNvPicPr preferRelativeResize="0"/>
            <p:nvPr/>
          </p:nvPicPr>
          <p:blipFill rotWithShape="1">
            <a:blip r:embed="rId4">
              <a:alphaModFix/>
            </a:blip>
            <a:srcRect/>
            <a:stretch/>
          </p:blipFill>
          <p:spPr>
            <a:xfrm>
              <a:off x="9523191" y="2418965"/>
              <a:ext cx="365760" cy="365760"/>
            </a:xfrm>
            <a:prstGeom prst="rect">
              <a:avLst/>
            </a:prstGeom>
            <a:noFill/>
            <a:ln>
              <a:noFill/>
            </a:ln>
          </p:spPr>
        </p:pic>
        <p:pic>
          <p:nvPicPr>
            <p:cNvPr id="164" name="Google Shape;164;p15" descr="Head with gears"/>
            <p:cNvPicPr preferRelativeResize="0"/>
            <p:nvPr/>
          </p:nvPicPr>
          <p:blipFill rotWithShape="1">
            <a:blip r:embed="rId5">
              <a:alphaModFix/>
            </a:blip>
            <a:srcRect/>
            <a:stretch/>
          </p:blipFill>
          <p:spPr>
            <a:xfrm>
              <a:off x="6670317" y="6006826"/>
              <a:ext cx="365760" cy="365760"/>
            </a:xfrm>
            <a:prstGeom prst="rect">
              <a:avLst/>
            </a:prstGeom>
            <a:noFill/>
            <a:ln>
              <a:noFill/>
            </a:ln>
          </p:spPr>
        </p:pic>
        <p:pic>
          <p:nvPicPr>
            <p:cNvPr id="165" name="Google Shape;165;p15" descr="Hourglass"/>
            <p:cNvPicPr preferRelativeResize="0"/>
            <p:nvPr/>
          </p:nvPicPr>
          <p:blipFill rotWithShape="1">
            <a:blip r:embed="rId6">
              <a:alphaModFix/>
            </a:blip>
            <a:srcRect/>
            <a:stretch/>
          </p:blipFill>
          <p:spPr>
            <a:xfrm>
              <a:off x="9233513" y="4015012"/>
              <a:ext cx="365760" cy="365760"/>
            </a:xfrm>
            <a:prstGeom prst="rect">
              <a:avLst/>
            </a:prstGeom>
            <a:noFill/>
            <a:ln>
              <a:noFill/>
            </a:ln>
          </p:spPr>
        </p:pic>
        <p:pic>
          <p:nvPicPr>
            <p:cNvPr id="166" name="Google Shape;166;p15" descr="Database"/>
            <p:cNvPicPr preferRelativeResize="0"/>
            <p:nvPr/>
          </p:nvPicPr>
          <p:blipFill rotWithShape="1">
            <a:blip r:embed="rId7">
              <a:alphaModFix/>
            </a:blip>
            <a:srcRect/>
            <a:stretch/>
          </p:blipFill>
          <p:spPr>
            <a:xfrm>
              <a:off x="8747573" y="5176187"/>
              <a:ext cx="365760" cy="365760"/>
            </a:xfrm>
            <a:prstGeom prst="rect">
              <a:avLst/>
            </a:prstGeom>
            <a:noFill/>
            <a:ln>
              <a:noFill/>
            </a:ln>
          </p:spPr>
        </p:pic>
        <p:sp>
          <p:nvSpPr>
            <p:cNvPr id="167" name="Google Shape;167;p15"/>
            <p:cNvSpPr txBox="1"/>
            <p:nvPr/>
          </p:nvSpPr>
          <p:spPr>
            <a:xfrm rot="-4079833">
              <a:off x="5062498" y="991893"/>
              <a:ext cx="52465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01</a:t>
              </a:r>
              <a:endParaRPr/>
            </a:p>
          </p:txBody>
        </p:sp>
        <p:sp>
          <p:nvSpPr>
            <p:cNvPr id="168" name="Google Shape;168;p15"/>
            <p:cNvSpPr txBox="1"/>
            <p:nvPr/>
          </p:nvSpPr>
          <p:spPr>
            <a:xfrm rot="-2064887">
              <a:off x="6127064" y="1832275"/>
              <a:ext cx="52465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02</a:t>
              </a:r>
              <a:endParaRPr/>
            </a:p>
          </p:txBody>
        </p:sp>
        <p:sp>
          <p:nvSpPr>
            <p:cNvPr id="169" name="Google Shape;169;p15"/>
            <p:cNvSpPr txBox="1"/>
            <p:nvPr/>
          </p:nvSpPr>
          <p:spPr>
            <a:xfrm rot="-845515">
              <a:off x="6615850" y="2889710"/>
              <a:ext cx="52465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03</a:t>
              </a:r>
              <a:endParaRPr/>
            </a:p>
          </p:txBody>
        </p:sp>
        <p:sp>
          <p:nvSpPr>
            <p:cNvPr id="170" name="Google Shape;170;p15"/>
            <p:cNvSpPr txBox="1"/>
            <p:nvPr/>
          </p:nvSpPr>
          <p:spPr>
            <a:xfrm rot="1162958">
              <a:off x="6479469" y="4106358"/>
              <a:ext cx="52465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04</a:t>
              </a:r>
              <a:endParaRPr/>
            </a:p>
          </p:txBody>
        </p:sp>
        <p:sp>
          <p:nvSpPr>
            <p:cNvPr id="171" name="Google Shape;171;p15"/>
            <p:cNvSpPr txBox="1"/>
            <p:nvPr/>
          </p:nvSpPr>
          <p:spPr>
            <a:xfrm rot="2674433">
              <a:off x="5897727" y="5114477"/>
              <a:ext cx="52465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05</a:t>
              </a:r>
              <a:endParaRPr/>
            </a:p>
          </p:txBody>
        </p:sp>
        <p:sp>
          <p:nvSpPr>
            <p:cNvPr id="172" name="Google Shape;172;p15"/>
            <p:cNvSpPr txBox="1"/>
            <p:nvPr/>
          </p:nvSpPr>
          <p:spPr>
            <a:xfrm rot="3539017">
              <a:off x="4809879" y="5817218"/>
              <a:ext cx="52465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06</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10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grpSp>
        <p:nvGrpSpPr>
          <p:cNvPr id="177" name="Google Shape;177;p16"/>
          <p:cNvGrpSpPr/>
          <p:nvPr/>
        </p:nvGrpSpPr>
        <p:grpSpPr>
          <a:xfrm>
            <a:off x="751508" y="1553071"/>
            <a:ext cx="7484710" cy="4817540"/>
            <a:chOff x="4785865" y="1509527"/>
            <a:chExt cx="6318341" cy="3127239"/>
          </a:xfrm>
        </p:grpSpPr>
        <p:grpSp>
          <p:nvGrpSpPr>
            <p:cNvPr id="178" name="Google Shape;178;p16"/>
            <p:cNvGrpSpPr/>
            <p:nvPr/>
          </p:nvGrpSpPr>
          <p:grpSpPr>
            <a:xfrm>
              <a:off x="4785865" y="1509527"/>
              <a:ext cx="6318341" cy="1052272"/>
              <a:chOff x="4642992" y="479019"/>
              <a:chExt cx="6318341" cy="1052272"/>
            </a:xfrm>
          </p:grpSpPr>
          <p:sp>
            <p:nvSpPr>
              <p:cNvPr id="179" name="Google Shape;179;p16"/>
              <p:cNvSpPr txBox="1"/>
              <p:nvPr/>
            </p:nvSpPr>
            <p:spPr>
              <a:xfrm>
                <a:off x="4642992" y="479019"/>
                <a:ext cx="3028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rgbClr val="CC00CC"/>
                    </a:solidFill>
                    <a:latin typeface="Calibri"/>
                    <a:ea typeface="Calibri"/>
                    <a:cs typeface="Calibri"/>
                    <a:sym typeface="Calibri"/>
                  </a:rPr>
                  <a:t>Regarding dataset</a:t>
                </a:r>
                <a:endParaRPr sz="2000" b="1" dirty="0">
                  <a:solidFill>
                    <a:srgbClr val="CC00CC"/>
                  </a:solidFill>
                  <a:latin typeface="Calibri"/>
                  <a:ea typeface="Calibri"/>
                  <a:cs typeface="Calibri"/>
                  <a:sym typeface="Calibri"/>
                </a:endParaRPr>
              </a:p>
            </p:txBody>
          </p:sp>
          <p:sp>
            <p:nvSpPr>
              <p:cNvPr id="180" name="Google Shape;180;p16"/>
              <p:cNvSpPr txBox="1"/>
              <p:nvPr/>
            </p:nvSpPr>
            <p:spPr>
              <a:xfrm>
                <a:off x="4786087" y="946516"/>
                <a:ext cx="617524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Quattrocento Sans"/>
                    <a:ea typeface="Quattrocento Sans"/>
                    <a:cs typeface="Quattrocento Sans"/>
                    <a:sym typeface="Quattrocento Sans"/>
                  </a:rPr>
                  <a:t>This is a wide dataset consisting of 269 rows and 71 categorical columns without any missing values.</a:t>
                </a:r>
                <a:endParaRPr sz="1600" b="1" dirty="0">
                  <a:solidFill>
                    <a:srgbClr val="3F3F3F"/>
                  </a:solidFill>
                  <a:latin typeface="Quattrocento Sans"/>
                  <a:ea typeface="Quattrocento Sans"/>
                  <a:cs typeface="Quattrocento Sans"/>
                  <a:sym typeface="Quattrocento Sans"/>
                </a:endParaRPr>
              </a:p>
            </p:txBody>
          </p:sp>
        </p:grpSp>
        <p:grpSp>
          <p:nvGrpSpPr>
            <p:cNvPr id="181" name="Google Shape;181;p16"/>
            <p:cNvGrpSpPr/>
            <p:nvPr/>
          </p:nvGrpSpPr>
          <p:grpSpPr>
            <a:xfrm>
              <a:off x="4785865" y="2724770"/>
              <a:ext cx="6116032" cy="718153"/>
              <a:chOff x="4644221" y="430777"/>
              <a:chExt cx="6116032" cy="718153"/>
            </a:xfrm>
          </p:grpSpPr>
          <p:sp>
            <p:nvSpPr>
              <p:cNvPr id="182" name="Google Shape;182;p16"/>
              <p:cNvSpPr txBox="1"/>
              <p:nvPr/>
            </p:nvSpPr>
            <p:spPr>
              <a:xfrm>
                <a:off x="4644221" y="430777"/>
                <a:ext cx="302895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0099FF"/>
                    </a:solidFill>
                    <a:latin typeface="Calibri"/>
                    <a:ea typeface="Calibri"/>
                    <a:cs typeface="Calibri"/>
                    <a:sym typeface="Calibri"/>
                  </a:rPr>
                  <a:t>How data is there?</a:t>
                </a:r>
              </a:p>
            </p:txBody>
          </p:sp>
          <p:sp>
            <p:nvSpPr>
              <p:cNvPr id="183" name="Google Shape;183;p16"/>
              <p:cNvSpPr txBox="1"/>
              <p:nvPr/>
            </p:nvSpPr>
            <p:spPr>
              <a:xfrm>
                <a:off x="4878858" y="769331"/>
                <a:ext cx="5881395" cy="3795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262626"/>
                    </a:solidFill>
                    <a:latin typeface="Quattrocento Sans"/>
                    <a:ea typeface="Quattrocento Sans"/>
                    <a:cs typeface="Quattrocento Sans"/>
                    <a:sym typeface="Quattrocento Sans"/>
                  </a:rPr>
                  <a:t>The first 19 columns are about the users  and their stereotyping regarding the online retail-e-</a:t>
                </a:r>
                <a:r>
                  <a:rPr lang="en-US" sz="1600" dirty="0" err="1">
                    <a:solidFill>
                      <a:srgbClr val="262626"/>
                    </a:solidFill>
                    <a:latin typeface="Quattrocento Sans"/>
                    <a:ea typeface="Quattrocento Sans"/>
                    <a:cs typeface="Quattrocento Sans"/>
                    <a:sym typeface="Quattrocento Sans"/>
                  </a:rPr>
                  <a:t>commerece</a:t>
                </a:r>
                <a:r>
                  <a:rPr lang="en-US" sz="1600" dirty="0">
                    <a:solidFill>
                      <a:srgbClr val="262626"/>
                    </a:solidFill>
                    <a:latin typeface="Quattrocento Sans"/>
                    <a:ea typeface="Quattrocento Sans"/>
                    <a:cs typeface="Quattrocento Sans"/>
                    <a:sym typeface="Quattrocento Sans"/>
                  </a:rPr>
                  <a:t> retail shop.</a:t>
                </a:r>
                <a:endParaRPr sz="1600" dirty="0">
                  <a:solidFill>
                    <a:srgbClr val="262626"/>
                  </a:solidFill>
                  <a:latin typeface="Quattrocento Sans"/>
                  <a:ea typeface="Quattrocento Sans"/>
                  <a:cs typeface="Quattrocento Sans"/>
                  <a:sym typeface="Quattrocento Sans"/>
                </a:endParaRPr>
              </a:p>
            </p:txBody>
          </p:sp>
        </p:grpSp>
        <p:sp>
          <p:nvSpPr>
            <p:cNvPr id="184" name="Google Shape;184;p16"/>
            <p:cNvSpPr txBox="1"/>
            <p:nvPr/>
          </p:nvSpPr>
          <p:spPr>
            <a:xfrm>
              <a:off x="5020032" y="4267434"/>
              <a:ext cx="588139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7F7F7F"/>
                </a:solidFill>
                <a:latin typeface="Calibri"/>
                <a:ea typeface="Calibri"/>
                <a:cs typeface="Calibri"/>
                <a:sym typeface="Calibri"/>
              </a:endParaRPr>
            </a:p>
          </p:txBody>
        </p:sp>
      </p:grpSp>
      <p:grpSp>
        <p:nvGrpSpPr>
          <p:cNvPr id="185" name="Google Shape;185;p16"/>
          <p:cNvGrpSpPr/>
          <p:nvPr/>
        </p:nvGrpSpPr>
        <p:grpSpPr>
          <a:xfrm>
            <a:off x="212380" y="20637"/>
            <a:ext cx="8244362" cy="937676"/>
            <a:chOff x="2456543" y="131812"/>
            <a:chExt cx="7278915" cy="937676"/>
          </a:xfrm>
        </p:grpSpPr>
        <p:sp>
          <p:nvSpPr>
            <p:cNvPr id="186" name="Google Shape;186;p16"/>
            <p:cNvSpPr txBox="1"/>
            <p:nvPr/>
          </p:nvSpPr>
          <p:spPr>
            <a:xfrm>
              <a:off x="2456543" y="131812"/>
              <a:ext cx="7278915"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rgbClr val="A5A5A5"/>
                  </a:solidFill>
                  <a:latin typeface="Twentieth Century"/>
                  <a:ea typeface="Twentieth Century"/>
                  <a:cs typeface="Twentieth Century"/>
                  <a:sym typeface="Twentieth Century"/>
                </a:rPr>
                <a:t>Basic outlook over the data</a:t>
              </a:r>
              <a:endParaRPr sz="4000" b="1" dirty="0">
                <a:solidFill>
                  <a:srgbClr val="A5A5A5"/>
                </a:solidFill>
                <a:latin typeface="Twentieth Century"/>
                <a:ea typeface="Twentieth Century"/>
                <a:cs typeface="Twentieth Century"/>
                <a:sym typeface="Twentieth Century"/>
              </a:endParaRPr>
            </a:p>
          </p:txBody>
        </p:sp>
        <p:grpSp>
          <p:nvGrpSpPr>
            <p:cNvPr id="187" name="Google Shape;187;p16"/>
            <p:cNvGrpSpPr/>
            <p:nvPr/>
          </p:nvGrpSpPr>
          <p:grpSpPr>
            <a:xfrm>
              <a:off x="5378756" y="878988"/>
              <a:ext cx="1434489" cy="190500"/>
              <a:chOff x="4679586" y="878988"/>
              <a:chExt cx="1434489" cy="190500"/>
            </a:xfrm>
          </p:grpSpPr>
          <p:sp>
            <p:nvSpPr>
              <p:cNvPr id="188" name="Google Shape;188;p16"/>
              <p:cNvSpPr/>
              <p:nvPr/>
            </p:nvSpPr>
            <p:spPr>
              <a:xfrm>
                <a:off x="4679586" y="878988"/>
                <a:ext cx="190500" cy="190500"/>
              </a:xfrm>
              <a:prstGeom prst="ellipse">
                <a:avLst/>
              </a:prstGeom>
              <a:solidFill>
                <a:srgbClr val="03A1A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9" name="Google Shape;189;p16"/>
              <p:cNvSpPr/>
              <p:nvPr/>
            </p:nvSpPr>
            <p:spPr>
              <a:xfrm>
                <a:off x="4990736" y="878988"/>
                <a:ext cx="190500" cy="190500"/>
              </a:xfrm>
              <a:prstGeom prst="ellipse">
                <a:avLst/>
              </a:prstGeom>
              <a:solidFill>
                <a:srgbClr val="EE95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16"/>
              <p:cNvSpPr/>
              <p:nvPr/>
            </p:nvSpPr>
            <p:spPr>
              <a:xfrm>
                <a:off x="5301522" y="878988"/>
                <a:ext cx="190500" cy="190500"/>
              </a:xfrm>
              <a:prstGeom prst="ellipse">
                <a:avLst/>
              </a:prstGeom>
              <a:solidFill>
                <a:srgbClr val="EF30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6"/>
              <p:cNvSpPr/>
              <p:nvPr/>
            </p:nvSpPr>
            <p:spPr>
              <a:xfrm>
                <a:off x="5612308" y="878988"/>
                <a:ext cx="190500" cy="190500"/>
              </a:xfrm>
              <a:prstGeom prst="ellipse">
                <a:avLst/>
              </a:prstGeom>
              <a:solidFill>
                <a:srgbClr val="1C7CB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6"/>
              <p:cNvSpPr/>
              <p:nvPr/>
            </p:nvSpPr>
            <p:spPr>
              <a:xfrm>
                <a:off x="5923575" y="878988"/>
                <a:ext cx="190500" cy="190500"/>
              </a:xfrm>
              <a:prstGeom prst="ellipse">
                <a:avLst/>
              </a:prstGeom>
              <a:solidFill>
                <a:srgbClr val="9748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193" name="Google Shape;193;p16"/>
          <p:cNvSpPr txBox="1"/>
          <p:nvPr/>
        </p:nvSpPr>
        <p:spPr>
          <a:xfrm>
            <a:off x="1029459" y="4724399"/>
            <a:ext cx="75554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262626"/>
                </a:solidFill>
                <a:latin typeface="Quattrocento Sans"/>
                <a:ea typeface="Quattrocento Sans"/>
                <a:cs typeface="Quattrocento Sans"/>
                <a:sym typeface="Quattrocento Sans"/>
              </a:rPr>
              <a:t>Last 20 columns infers which is users favorite Indian online retail shop on different </a:t>
            </a:r>
            <a:r>
              <a:rPr lang="en-US" sz="1600" dirty="0" err="1">
                <a:solidFill>
                  <a:srgbClr val="262626"/>
                </a:solidFill>
                <a:latin typeface="Quattrocento Sans"/>
                <a:ea typeface="Quattrocento Sans"/>
                <a:cs typeface="Quattrocento Sans"/>
                <a:sym typeface="Quattrocento Sans"/>
              </a:rPr>
              <a:t>intrest</a:t>
            </a:r>
            <a:r>
              <a:rPr lang="en-US" sz="1600" dirty="0">
                <a:solidFill>
                  <a:srgbClr val="262626"/>
                </a:solidFill>
                <a:latin typeface="Quattrocento Sans"/>
                <a:ea typeface="Quattrocento Sans"/>
                <a:cs typeface="Quattrocento Sans"/>
                <a:sym typeface="Quattrocento Sans"/>
              </a:rPr>
              <a:t> like several payment </a:t>
            </a:r>
            <a:r>
              <a:rPr lang="en-US" sz="1600" dirty="0" err="1">
                <a:solidFill>
                  <a:srgbClr val="262626"/>
                </a:solidFill>
                <a:latin typeface="Quattrocento Sans"/>
                <a:ea typeface="Quattrocento Sans"/>
                <a:cs typeface="Quattrocento Sans"/>
                <a:sym typeface="Quattrocento Sans"/>
              </a:rPr>
              <a:t>options,appealing</a:t>
            </a:r>
            <a:r>
              <a:rPr lang="en-US" sz="1600" dirty="0">
                <a:solidFill>
                  <a:srgbClr val="262626"/>
                </a:solidFill>
                <a:latin typeface="Quattrocento Sans"/>
                <a:ea typeface="Quattrocento Sans"/>
                <a:cs typeface="Quattrocento Sans"/>
                <a:sym typeface="Quattrocento Sans"/>
              </a:rPr>
              <a:t> web </a:t>
            </a:r>
            <a:r>
              <a:rPr lang="en-US" sz="1600" dirty="0" err="1">
                <a:solidFill>
                  <a:srgbClr val="262626"/>
                </a:solidFill>
                <a:latin typeface="Quattrocento Sans"/>
                <a:ea typeface="Quattrocento Sans"/>
                <a:cs typeface="Quattrocento Sans"/>
                <a:sym typeface="Quattrocento Sans"/>
              </a:rPr>
              <a:t>pages,offer</a:t>
            </a:r>
            <a:r>
              <a:rPr lang="en-US" sz="1600" dirty="0">
                <a:solidFill>
                  <a:srgbClr val="262626"/>
                </a:solidFill>
                <a:latin typeface="Quattrocento Sans"/>
                <a:ea typeface="Quattrocento Sans"/>
                <a:cs typeface="Quattrocento Sans"/>
                <a:sym typeface="Quattrocento Sans"/>
              </a:rPr>
              <a:t> etc.</a:t>
            </a:r>
            <a:endParaRPr sz="1600" dirty="0">
              <a:solidFill>
                <a:srgbClr val="262626"/>
              </a:solidFill>
              <a:latin typeface="Quattrocento Sans"/>
              <a:ea typeface="Quattrocento Sans"/>
              <a:cs typeface="Quattrocento Sans"/>
              <a:sym typeface="Quattrocento Sans"/>
            </a:endParaRPr>
          </a:p>
        </p:txBody>
      </p:sp>
      <p:sp>
        <p:nvSpPr>
          <p:cNvPr id="194" name="Google Shape;194;p16"/>
          <p:cNvSpPr txBox="1"/>
          <p:nvPr/>
        </p:nvSpPr>
        <p:spPr>
          <a:xfrm>
            <a:off x="1029459" y="5486400"/>
            <a:ext cx="69665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262626"/>
                </a:solidFill>
                <a:latin typeface="Quattrocento Sans"/>
                <a:ea typeface="Quattrocento Sans"/>
                <a:cs typeface="Quattrocento Sans"/>
                <a:sym typeface="Quattrocento Sans"/>
              </a:rPr>
              <a:t>The rest of the column columns belongs to users rating the online retail shop as general on different questions.</a:t>
            </a:r>
            <a:endParaRPr sz="1600" dirty="0">
              <a:solidFill>
                <a:srgbClr val="262626"/>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grpSp>
        <p:nvGrpSpPr>
          <p:cNvPr id="199" name="Google Shape;199;p17"/>
          <p:cNvGrpSpPr/>
          <p:nvPr/>
        </p:nvGrpSpPr>
        <p:grpSpPr>
          <a:xfrm>
            <a:off x="921327" y="216534"/>
            <a:ext cx="7278915" cy="937676"/>
            <a:chOff x="2463470" y="131812"/>
            <a:chExt cx="7278915" cy="937676"/>
          </a:xfrm>
        </p:grpSpPr>
        <p:sp>
          <p:nvSpPr>
            <p:cNvPr id="200" name="Google Shape;200;p17"/>
            <p:cNvSpPr txBox="1"/>
            <p:nvPr/>
          </p:nvSpPr>
          <p:spPr>
            <a:xfrm>
              <a:off x="2463470" y="131812"/>
              <a:ext cx="7278915"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rgbClr val="A5A5A5"/>
                  </a:solidFill>
                  <a:latin typeface="Twentieth Century"/>
                  <a:ea typeface="Twentieth Century"/>
                  <a:cs typeface="Twentieth Century"/>
                  <a:sym typeface="Twentieth Century"/>
                </a:rPr>
                <a:t>Preprocessing of data</a:t>
              </a:r>
              <a:endParaRPr sz="4000" b="1" dirty="0">
                <a:solidFill>
                  <a:srgbClr val="A5A5A5"/>
                </a:solidFill>
                <a:latin typeface="Twentieth Century"/>
                <a:ea typeface="Twentieth Century"/>
                <a:cs typeface="Twentieth Century"/>
                <a:sym typeface="Twentieth Century"/>
              </a:endParaRPr>
            </a:p>
          </p:txBody>
        </p:sp>
        <p:grpSp>
          <p:nvGrpSpPr>
            <p:cNvPr id="201" name="Google Shape;201;p17"/>
            <p:cNvGrpSpPr/>
            <p:nvPr/>
          </p:nvGrpSpPr>
          <p:grpSpPr>
            <a:xfrm>
              <a:off x="5378756" y="878988"/>
              <a:ext cx="1434489" cy="190500"/>
              <a:chOff x="4679586" y="878988"/>
              <a:chExt cx="1434489" cy="190500"/>
            </a:xfrm>
          </p:grpSpPr>
          <p:sp>
            <p:nvSpPr>
              <p:cNvPr id="202" name="Google Shape;202;p17"/>
              <p:cNvSpPr/>
              <p:nvPr/>
            </p:nvSpPr>
            <p:spPr>
              <a:xfrm>
                <a:off x="4679586" y="878988"/>
                <a:ext cx="190500" cy="190500"/>
              </a:xfrm>
              <a:prstGeom prst="ellipse">
                <a:avLst/>
              </a:prstGeom>
              <a:solidFill>
                <a:srgbClr val="03A1A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7"/>
              <p:cNvSpPr/>
              <p:nvPr/>
            </p:nvSpPr>
            <p:spPr>
              <a:xfrm>
                <a:off x="4990736" y="878988"/>
                <a:ext cx="190500" cy="190500"/>
              </a:xfrm>
              <a:prstGeom prst="ellipse">
                <a:avLst/>
              </a:prstGeom>
              <a:solidFill>
                <a:srgbClr val="EE95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7"/>
              <p:cNvSpPr/>
              <p:nvPr/>
            </p:nvSpPr>
            <p:spPr>
              <a:xfrm>
                <a:off x="5301522" y="878988"/>
                <a:ext cx="190500" cy="190500"/>
              </a:xfrm>
              <a:prstGeom prst="ellipse">
                <a:avLst/>
              </a:prstGeom>
              <a:solidFill>
                <a:srgbClr val="EF30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17"/>
              <p:cNvSpPr/>
              <p:nvPr/>
            </p:nvSpPr>
            <p:spPr>
              <a:xfrm>
                <a:off x="5612308" y="878988"/>
                <a:ext cx="190500" cy="190500"/>
              </a:xfrm>
              <a:prstGeom prst="ellipse">
                <a:avLst/>
              </a:prstGeom>
              <a:solidFill>
                <a:srgbClr val="1C7CB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7"/>
              <p:cNvSpPr/>
              <p:nvPr/>
            </p:nvSpPr>
            <p:spPr>
              <a:xfrm>
                <a:off x="5923575" y="878988"/>
                <a:ext cx="190500" cy="190500"/>
              </a:xfrm>
              <a:prstGeom prst="ellipse">
                <a:avLst/>
              </a:prstGeom>
              <a:solidFill>
                <a:srgbClr val="9748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207" name="Google Shape;207;p17"/>
          <p:cNvGrpSpPr/>
          <p:nvPr/>
        </p:nvGrpSpPr>
        <p:grpSpPr>
          <a:xfrm>
            <a:off x="543534" y="1975674"/>
            <a:ext cx="4010265" cy="864369"/>
            <a:chOff x="4504626" y="2240839"/>
            <a:chExt cx="4010265" cy="864369"/>
          </a:xfrm>
        </p:grpSpPr>
        <p:sp>
          <p:nvSpPr>
            <p:cNvPr id="208" name="Google Shape;208;p17"/>
            <p:cNvSpPr/>
            <p:nvPr/>
          </p:nvSpPr>
          <p:spPr>
            <a:xfrm>
              <a:off x="4504626" y="2277143"/>
              <a:ext cx="828065" cy="828065"/>
            </a:xfrm>
            <a:prstGeom prst="ellipse">
              <a:avLst/>
            </a:prstGeom>
            <a:solidFill>
              <a:srgbClr val="EF30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17"/>
            <p:cNvSpPr txBox="1"/>
            <p:nvPr/>
          </p:nvSpPr>
          <p:spPr>
            <a:xfrm>
              <a:off x="5332691" y="2240839"/>
              <a:ext cx="31822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rgbClr val="EF3078"/>
                  </a:solidFill>
                  <a:latin typeface="Twentieth Century"/>
                  <a:ea typeface="Twentieth Century"/>
                  <a:cs typeface="Twentieth Century"/>
                  <a:sym typeface="Twentieth Century"/>
                </a:rPr>
                <a:t>Categorical  columns</a:t>
              </a:r>
              <a:endParaRPr sz="2200" b="1">
                <a:solidFill>
                  <a:srgbClr val="EF3078"/>
                </a:solidFill>
                <a:latin typeface="Twentieth Century"/>
                <a:ea typeface="Twentieth Century"/>
                <a:cs typeface="Twentieth Century"/>
                <a:sym typeface="Twentieth Century"/>
              </a:endParaRPr>
            </a:p>
          </p:txBody>
        </p:sp>
        <p:pic>
          <p:nvPicPr>
            <p:cNvPr id="210" name="Google Shape;210;p17"/>
            <p:cNvPicPr preferRelativeResize="0"/>
            <p:nvPr/>
          </p:nvPicPr>
          <p:blipFill rotWithShape="1">
            <a:blip r:embed="rId3">
              <a:alphaModFix/>
            </a:blip>
            <a:srcRect/>
            <a:stretch/>
          </p:blipFill>
          <p:spPr>
            <a:xfrm>
              <a:off x="4655953" y="2464709"/>
              <a:ext cx="452931" cy="452931"/>
            </a:xfrm>
            <a:prstGeom prst="rect">
              <a:avLst/>
            </a:prstGeom>
            <a:noFill/>
            <a:ln>
              <a:noFill/>
            </a:ln>
          </p:spPr>
        </p:pic>
      </p:grpSp>
      <p:sp>
        <p:nvSpPr>
          <p:cNvPr id="211" name="Google Shape;211;p17"/>
          <p:cNvSpPr txBox="1"/>
          <p:nvPr/>
        </p:nvSpPr>
        <p:spPr>
          <a:xfrm>
            <a:off x="1447800" y="2426009"/>
            <a:ext cx="73152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262626"/>
                </a:solidFill>
                <a:latin typeface="Quattrocento Sans"/>
                <a:ea typeface="Quattrocento Sans"/>
                <a:cs typeface="Quattrocento Sans"/>
                <a:sym typeface="Quattrocento Sans"/>
              </a:rPr>
              <a:t>Since all the columns are of categorical type we did the label encoding, There were no null values, In some cases column name was out of simplicity so we renamed it for future analysis purpose</a:t>
            </a:r>
            <a:endParaRPr sz="1600" dirty="0">
              <a:solidFill>
                <a:srgbClr val="262626"/>
              </a:solidFill>
              <a:latin typeface="Quattrocento Sans"/>
              <a:ea typeface="Quattrocento Sans"/>
              <a:cs typeface="Quattrocento Sans"/>
              <a:sym typeface="Quattrocento Sans"/>
            </a:endParaRPr>
          </a:p>
        </p:txBody>
      </p:sp>
      <p:grpSp>
        <p:nvGrpSpPr>
          <p:cNvPr id="212" name="Google Shape;212;p17"/>
          <p:cNvGrpSpPr/>
          <p:nvPr/>
        </p:nvGrpSpPr>
        <p:grpSpPr>
          <a:xfrm>
            <a:off x="511089" y="4145446"/>
            <a:ext cx="8099511" cy="1003356"/>
            <a:chOff x="4353552" y="3420415"/>
            <a:chExt cx="8099511" cy="1003356"/>
          </a:xfrm>
        </p:grpSpPr>
        <p:sp>
          <p:nvSpPr>
            <p:cNvPr id="213" name="Google Shape;213;p17"/>
            <p:cNvSpPr/>
            <p:nvPr/>
          </p:nvSpPr>
          <p:spPr>
            <a:xfrm>
              <a:off x="4353552" y="3449280"/>
              <a:ext cx="914399" cy="914399"/>
            </a:xfrm>
            <a:prstGeom prst="ellipse">
              <a:avLst/>
            </a:prstGeom>
            <a:solidFill>
              <a:srgbClr val="03A1A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17"/>
            <p:cNvSpPr txBox="1"/>
            <p:nvPr/>
          </p:nvSpPr>
          <p:spPr>
            <a:xfrm>
              <a:off x="5175104" y="3420415"/>
              <a:ext cx="352137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rgbClr val="03A1A4"/>
                  </a:solidFill>
                  <a:latin typeface="Twentieth Century"/>
                  <a:ea typeface="Twentieth Century"/>
                  <a:cs typeface="Twentieth Century"/>
                  <a:sym typeface="Twentieth Century"/>
                </a:rPr>
                <a:t>Dictionary</a:t>
              </a:r>
              <a:endParaRPr sz="2200" b="1" dirty="0">
                <a:solidFill>
                  <a:srgbClr val="03A1A4"/>
                </a:solidFill>
                <a:latin typeface="Twentieth Century"/>
                <a:ea typeface="Twentieth Century"/>
                <a:cs typeface="Twentieth Century"/>
                <a:sym typeface="Twentieth Century"/>
              </a:endParaRPr>
            </a:p>
          </p:txBody>
        </p:sp>
        <p:sp>
          <p:nvSpPr>
            <p:cNvPr id="215" name="Google Shape;215;p17"/>
            <p:cNvSpPr txBox="1"/>
            <p:nvPr/>
          </p:nvSpPr>
          <p:spPr>
            <a:xfrm>
              <a:off x="5342827" y="3838996"/>
              <a:ext cx="711023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3F3F3F"/>
                  </a:solidFill>
                  <a:latin typeface="Quattrocento Sans"/>
                  <a:ea typeface="Quattrocento Sans"/>
                  <a:cs typeface="Quattrocento Sans"/>
                  <a:sym typeface="Quattrocento Sans"/>
                </a:rPr>
                <a:t>We made </a:t>
              </a:r>
              <a:r>
                <a:rPr lang="en-US" sz="1600" dirty="0" err="1">
                  <a:solidFill>
                    <a:srgbClr val="3F3F3F"/>
                  </a:solidFill>
                  <a:latin typeface="Quattrocento Sans"/>
                  <a:ea typeface="Quattrocento Sans"/>
                  <a:cs typeface="Quattrocento Sans"/>
                  <a:sym typeface="Quattrocento Sans"/>
                </a:rPr>
                <a:t>seperate</a:t>
              </a:r>
              <a:r>
                <a:rPr lang="en-US" sz="1600" dirty="0">
                  <a:solidFill>
                    <a:srgbClr val="3F3F3F"/>
                  </a:solidFill>
                  <a:latin typeface="Quattrocento Sans"/>
                  <a:ea typeface="Quattrocento Sans"/>
                  <a:cs typeface="Quattrocento Sans"/>
                  <a:sym typeface="Quattrocento Sans"/>
                </a:rPr>
                <a:t> dictionary for each columns to keep which label encoded value infers what.</a:t>
              </a:r>
              <a:endParaRPr sz="1600" dirty="0">
                <a:solidFill>
                  <a:srgbClr val="3F3F3F"/>
                </a:solidFill>
                <a:latin typeface="Quattrocento Sans"/>
                <a:ea typeface="Quattrocento Sans"/>
                <a:cs typeface="Quattrocento Sans"/>
                <a:sym typeface="Quattrocento Sans"/>
              </a:endParaRPr>
            </a:p>
          </p:txBody>
        </p:sp>
        <p:pic>
          <p:nvPicPr>
            <p:cNvPr id="216" name="Google Shape;216;p17"/>
            <p:cNvPicPr preferRelativeResize="0"/>
            <p:nvPr/>
          </p:nvPicPr>
          <p:blipFill rotWithShape="1">
            <a:blip r:embed="rId4">
              <a:alphaModFix/>
            </a:blip>
            <a:srcRect/>
            <a:stretch/>
          </p:blipFill>
          <p:spPr>
            <a:xfrm>
              <a:off x="4567284" y="3618557"/>
              <a:ext cx="465489" cy="465489"/>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2"/>
                                        </p:tgtEl>
                                        <p:attrNameLst>
                                          <p:attrName>style.visibility</p:attrName>
                                        </p:attrNameLst>
                                      </p:cBhvr>
                                      <p:to>
                                        <p:strVal val="visible"/>
                                      </p:to>
                                    </p:set>
                                    <p:animEffect transition="in" filter="fade">
                                      <p:cBhvr>
                                        <p:cTn id="11"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grpSp>
        <p:nvGrpSpPr>
          <p:cNvPr id="221" name="Google Shape;221;p18"/>
          <p:cNvGrpSpPr/>
          <p:nvPr/>
        </p:nvGrpSpPr>
        <p:grpSpPr>
          <a:xfrm>
            <a:off x="914341" y="281848"/>
            <a:ext cx="7278915" cy="937676"/>
            <a:chOff x="2456484" y="131812"/>
            <a:chExt cx="7278915" cy="937676"/>
          </a:xfrm>
        </p:grpSpPr>
        <p:sp>
          <p:nvSpPr>
            <p:cNvPr id="222" name="Google Shape;222;p18"/>
            <p:cNvSpPr txBox="1"/>
            <p:nvPr/>
          </p:nvSpPr>
          <p:spPr>
            <a:xfrm>
              <a:off x="2456484" y="131812"/>
              <a:ext cx="7278915"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rgbClr val="A5A5A5"/>
                  </a:solidFill>
                  <a:latin typeface="Twentieth Century"/>
                  <a:ea typeface="Twentieth Century"/>
                  <a:cs typeface="Twentieth Century"/>
                  <a:sym typeface="Twentieth Century"/>
                </a:rPr>
                <a:t>Exploratory Data Analysis</a:t>
              </a:r>
              <a:endParaRPr sz="4000" b="1" dirty="0">
                <a:solidFill>
                  <a:srgbClr val="A5A5A5"/>
                </a:solidFill>
                <a:latin typeface="Twentieth Century"/>
                <a:ea typeface="Twentieth Century"/>
                <a:cs typeface="Twentieth Century"/>
                <a:sym typeface="Twentieth Century"/>
              </a:endParaRPr>
            </a:p>
          </p:txBody>
        </p:sp>
        <p:grpSp>
          <p:nvGrpSpPr>
            <p:cNvPr id="223" name="Google Shape;223;p18"/>
            <p:cNvGrpSpPr/>
            <p:nvPr/>
          </p:nvGrpSpPr>
          <p:grpSpPr>
            <a:xfrm>
              <a:off x="5378756" y="878988"/>
              <a:ext cx="1434489" cy="190500"/>
              <a:chOff x="4679586" y="878988"/>
              <a:chExt cx="1434489" cy="190500"/>
            </a:xfrm>
          </p:grpSpPr>
          <p:sp>
            <p:nvSpPr>
              <p:cNvPr id="224" name="Google Shape;224;p18"/>
              <p:cNvSpPr/>
              <p:nvPr/>
            </p:nvSpPr>
            <p:spPr>
              <a:xfrm>
                <a:off x="4679586" y="878988"/>
                <a:ext cx="190500" cy="190500"/>
              </a:xfrm>
              <a:prstGeom prst="ellipse">
                <a:avLst/>
              </a:prstGeom>
              <a:solidFill>
                <a:srgbClr val="03A1A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18"/>
              <p:cNvSpPr/>
              <p:nvPr/>
            </p:nvSpPr>
            <p:spPr>
              <a:xfrm>
                <a:off x="4990736" y="878988"/>
                <a:ext cx="190500" cy="190500"/>
              </a:xfrm>
              <a:prstGeom prst="ellipse">
                <a:avLst/>
              </a:prstGeom>
              <a:solidFill>
                <a:srgbClr val="EE95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8"/>
              <p:cNvSpPr/>
              <p:nvPr/>
            </p:nvSpPr>
            <p:spPr>
              <a:xfrm>
                <a:off x="5301522" y="878988"/>
                <a:ext cx="190500" cy="190500"/>
              </a:xfrm>
              <a:prstGeom prst="ellipse">
                <a:avLst/>
              </a:prstGeom>
              <a:solidFill>
                <a:srgbClr val="EF30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18"/>
              <p:cNvSpPr/>
              <p:nvPr/>
            </p:nvSpPr>
            <p:spPr>
              <a:xfrm>
                <a:off x="5612308" y="878988"/>
                <a:ext cx="190500" cy="190500"/>
              </a:xfrm>
              <a:prstGeom prst="ellipse">
                <a:avLst/>
              </a:prstGeom>
              <a:solidFill>
                <a:srgbClr val="1C7CB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18"/>
              <p:cNvSpPr/>
              <p:nvPr/>
            </p:nvSpPr>
            <p:spPr>
              <a:xfrm>
                <a:off x="5923575" y="878988"/>
                <a:ext cx="190500" cy="190500"/>
              </a:xfrm>
              <a:prstGeom prst="ellipse">
                <a:avLst/>
              </a:prstGeom>
              <a:solidFill>
                <a:srgbClr val="9748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229" name="Google Shape;229;p18"/>
          <p:cNvSpPr txBox="1"/>
          <p:nvPr/>
        </p:nvSpPr>
        <p:spPr>
          <a:xfrm>
            <a:off x="533400" y="1371600"/>
            <a:ext cx="82296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Since   the  dimension  of   the  dataset  is  significantly  wide  there  was  lump   sum  amount  of  data  in  different  angles ,  We  picked  up    </a:t>
            </a:r>
            <a:r>
              <a:rPr lang="en-US" sz="1800" dirty="0" err="1">
                <a:solidFill>
                  <a:schemeClr val="dk1"/>
                </a:solidFill>
                <a:latin typeface="Arial"/>
                <a:ea typeface="Arial"/>
                <a:cs typeface="Arial"/>
                <a:sym typeface="Arial"/>
              </a:rPr>
              <a:t>relevent</a:t>
            </a:r>
            <a:r>
              <a:rPr lang="en-US" sz="1800" dirty="0">
                <a:solidFill>
                  <a:schemeClr val="dk1"/>
                </a:solidFill>
                <a:latin typeface="Arial"/>
                <a:ea typeface="Arial"/>
                <a:cs typeface="Arial"/>
                <a:sym typeface="Arial"/>
              </a:rPr>
              <a:t>  information  through  3 types  of  following  analysis.</a:t>
            </a:r>
            <a:endParaRPr sz="1800" dirty="0">
              <a:solidFill>
                <a:schemeClr val="dk1"/>
              </a:solidFill>
              <a:latin typeface="Arial"/>
              <a:ea typeface="Arial"/>
              <a:cs typeface="Arial"/>
              <a:sym typeface="Arial"/>
            </a:endParaRPr>
          </a:p>
        </p:txBody>
      </p:sp>
      <p:sp>
        <p:nvSpPr>
          <p:cNvPr id="230" name="Google Shape;230;p18"/>
          <p:cNvSpPr/>
          <p:nvPr/>
        </p:nvSpPr>
        <p:spPr>
          <a:xfrm>
            <a:off x="464681" y="2329934"/>
            <a:ext cx="3471592" cy="43088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b="1" dirty="0">
                <a:solidFill>
                  <a:srgbClr val="A5A5A5"/>
                </a:solidFill>
                <a:latin typeface="Twentieth Century"/>
                <a:ea typeface="Twentieth Century"/>
                <a:cs typeface="Twentieth Century"/>
                <a:sym typeface="Twentieth Century"/>
              </a:rPr>
              <a:t>Univariate Data Analysis</a:t>
            </a:r>
            <a:endParaRPr dirty="0"/>
          </a:p>
        </p:txBody>
      </p:sp>
      <p:sp>
        <p:nvSpPr>
          <p:cNvPr id="231" name="Google Shape;231;p18"/>
          <p:cNvSpPr txBox="1"/>
          <p:nvPr/>
        </p:nvSpPr>
        <p:spPr>
          <a:xfrm>
            <a:off x="533400" y="2760821"/>
            <a:ext cx="8382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In  this  case  we  </a:t>
            </a:r>
            <a:r>
              <a:rPr lang="en-US" sz="1800" dirty="0" err="1">
                <a:solidFill>
                  <a:schemeClr val="dk1"/>
                </a:solidFill>
                <a:latin typeface="Arial"/>
                <a:ea typeface="Arial"/>
                <a:cs typeface="Arial"/>
                <a:sym typeface="Arial"/>
              </a:rPr>
              <a:t>analyse</a:t>
            </a:r>
            <a:r>
              <a:rPr lang="en-US" sz="1800" dirty="0">
                <a:solidFill>
                  <a:schemeClr val="dk1"/>
                </a:solidFill>
                <a:latin typeface="Arial"/>
                <a:ea typeface="Arial"/>
                <a:cs typeface="Arial"/>
                <a:sym typeface="Arial"/>
              </a:rPr>
              <a:t>  only  one  variable  at  a  time,  there  is  detailed  information  in  the  project  report , Here  we  are  going  through  important  features  only.</a:t>
            </a:r>
            <a:endParaRPr sz="1800" dirty="0">
              <a:solidFill>
                <a:schemeClr val="dk1"/>
              </a:solidFill>
              <a:latin typeface="Arial"/>
              <a:ea typeface="Arial"/>
              <a:cs typeface="Arial"/>
              <a:sym typeface="Arial"/>
            </a:endParaRPr>
          </a:p>
        </p:txBody>
      </p:sp>
      <p:sp>
        <p:nvSpPr>
          <p:cNvPr id="232" name="Google Shape;232;p18"/>
          <p:cNvSpPr/>
          <p:nvPr/>
        </p:nvSpPr>
        <p:spPr>
          <a:xfrm>
            <a:off x="1737291" y="3429000"/>
            <a:ext cx="5442516"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dirty="0">
                <a:solidFill>
                  <a:srgbClr val="A5A5A5"/>
                </a:solidFill>
                <a:latin typeface="Twentieth Century"/>
                <a:ea typeface="Twentieth Century"/>
                <a:cs typeface="Twentieth Century"/>
                <a:sym typeface="Twentieth Century"/>
              </a:rPr>
              <a:t>General </a:t>
            </a:r>
            <a:r>
              <a:rPr lang="en-US" sz="1800" b="1" dirty="0" err="1">
                <a:solidFill>
                  <a:srgbClr val="A5A5A5"/>
                </a:solidFill>
                <a:latin typeface="Twentieth Century"/>
                <a:ea typeface="Twentieth Century"/>
                <a:cs typeface="Twentieth Century"/>
                <a:sym typeface="Twentieth Century"/>
              </a:rPr>
              <a:t>inforamtions</a:t>
            </a:r>
            <a:r>
              <a:rPr lang="en-US" sz="1800" b="1" dirty="0">
                <a:solidFill>
                  <a:srgbClr val="A5A5A5"/>
                </a:solidFill>
                <a:latin typeface="Twentieth Century"/>
                <a:ea typeface="Twentieth Century"/>
                <a:cs typeface="Twentieth Century"/>
                <a:sym typeface="Twentieth Century"/>
              </a:rPr>
              <a:t> of online retail shop users</a:t>
            </a:r>
            <a:endParaRPr sz="1800" b="1" dirty="0">
              <a:solidFill>
                <a:srgbClr val="A5A5A5"/>
              </a:solidFill>
              <a:latin typeface="Twentieth Century"/>
              <a:ea typeface="Twentieth Century"/>
              <a:cs typeface="Twentieth Century"/>
              <a:sym typeface="Twentieth Century"/>
            </a:endParaRPr>
          </a:p>
        </p:txBody>
      </p:sp>
      <p:sp>
        <p:nvSpPr>
          <p:cNvPr id="233" name="Google Shape;233;p18"/>
          <p:cNvSpPr txBox="1"/>
          <p:nvPr/>
        </p:nvSpPr>
        <p:spPr>
          <a:xfrm>
            <a:off x="533400" y="3776484"/>
            <a:ext cx="8382000" cy="33855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dirty="0">
                <a:solidFill>
                  <a:schemeClr val="dk1"/>
                </a:solidFill>
                <a:latin typeface="Quattrocento Sans"/>
                <a:ea typeface="Quattrocento Sans"/>
                <a:cs typeface="Quattrocento Sans"/>
                <a:sym typeface="Quattrocento Sans"/>
              </a:rPr>
              <a:t>In this particular dataset around 67% of users are females and left 33% are male</a:t>
            </a:r>
            <a:endParaRPr sz="1600" dirty="0">
              <a:solidFill>
                <a:schemeClr val="dk1"/>
              </a:solidFill>
              <a:latin typeface="Quattrocento Sans"/>
              <a:ea typeface="Quattrocento Sans"/>
              <a:cs typeface="Quattrocento Sans"/>
              <a:sym typeface="Quattrocento Sans"/>
            </a:endParaRPr>
          </a:p>
        </p:txBody>
      </p:sp>
      <p:pic>
        <p:nvPicPr>
          <p:cNvPr id="234" name="Google Shape;234;p18"/>
          <p:cNvPicPr preferRelativeResize="0"/>
          <p:nvPr/>
        </p:nvPicPr>
        <p:blipFill rotWithShape="1">
          <a:blip r:embed="rId3">
            <a:alphaModFix/>
          </a:blip>
          <a:srcRect/>
          <a:stretch/>
        </p:blipFill>
        <p:spPr>
          <a:xfrm>
            <a:off x="2423738" y="4299704"/>
            <a:ext cx="3638550" cy="2409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p:nvPr/>
        </p:nvSpPr>
        <p:spPr>
          <a:xfrm>
            <a:off x="152400" y="239715"/>
            <a:ext cx="8991600" cy="584775"/>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600"/>
              <a:buFont typeface="Noto Sans Symbols"/>
              <a:buChar char="❑"/>
            </a:pPr>
            <a:r>
              <a:rPr lang="en-US" sz="1600">
                <a:solidFill>
                  <a:schemeClr val="dk1"/>
                </a:solidFill>
                <a:latin typeface="Quattrocento Sans"/>
                <a:ea typeface="Quattrocento Sans"/>
                <a:cs typeface="Quattrocento Sans"/>
                <a:sym typeface="Quattrocento Sans"/>
              </a:rPr>
              <a:t>Around 80% of user use Google Chrome as their web browser followed by safari,opera and Mozilla firefox of 15%, 3% and 2% respectively.</a:t>
            </a:r>
            <a:endParaRPr/>
          </a:p>
        </p:txBody>
      </p:sp>
      <p:pic>
        <p:nvPicPr>
          <p:cNvPr id="240" name="Google Shape;240;p19"/>
          <p:cNvPicPr preferRelativeResize="0"/>
          <p:nvPr/>
        </p:nvPicPr>
        <p:blipFill rotWithShape="1">
          <a:blip r:embed="rId3">
            <a:alphaModFix/>
          </a:blip>
          <a:srcRect/>
          <a:stretch/>
        </p:blipFill>
        <p:spPr>
          <a:xfrm>
            <a:off x="2514600" y="824491"/>
            <a:ext cx="3638550" cy="2071110"/>
          </a:xfrm>
          <a:prstGeom prst="rect">
            <a:avLst/>
          </a:prstGeom>
          <a:noFill/>
          <a:ln>
            <a:noFill/>
          </a:ln>
        </p:spPr>
      </p:pic>
      <p:sp>
        <p:nvSpPr>
          <p:cNvPr id="241" name="Google Shape;241;p19"/>
          <p:cNvSpPr txBox="1"/>
          <p:nvPr/>
        </p:nvSpPr>
        <p:spPr>
          <a:xfrm>
            <a:off x="457200" y="2895601"/>
            <a:ext cx="8382000" cy="132343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a:solidFill>
                  <a:schemeClr val="dk1"/>
                </a:solidFill>
                <a:latin typeface="Quattrocento Sans"/>
                <a:ea typeface="Quattrocento Sans"/>
                <a:cs typeface="Quattrocento Sans"/>
                <a:sym typeface="Quattrocento Sans"/>
              </a:rPr>
              <a:t>How much time do you explore the e-retail store before making an decision </a:t>
            </a: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600">
                <a:solidFill>
                  <a:schemeClr val="dk1"/>
                </a:solidFill>
                <a:latin typeface="Quattrocento Sans"/>
                <a:ea typeface="Quattrocento Sans"/>
                <a:cs typeface="Quattrocento Sans"/>
                <a:sym typeface="Quattrocento Sans"/>
              </a:rPr>
              <a:t>Around 44% of user spend more than 15 min before they make up the decision of purchasing .</a:t>
            </a:r>
            <a:endParaRPr/>
          </a:p>
          <a:p>
            <a:pPr marL="0" marR="0" lvl="0" indent="0" algn="l" rtl="0">
              <a:spcBef>
                <a:spcPts val="0"/>
              </a:spcBef>
              <a:spcAft>
                <a:spcPts val="0"/>
              </a:spcAft>
              <a:buNone/>
            </a:pPr>
            <a:r>
              <a:rPr lang="en-US" sz="1600">
                <a:solidFill>
                  <a:schemeClr val="dk1"/>
                </a:solidFill>
                <a:latin typeface="Quattrocento Sans"/>
                <a:ea typeface="Quattrocento Sans"/>
                <a:cs typeface="Quattrocento Sans"/>
                <a:sym typeface="Quattrocento Sans"/>
              </a:rPr>
              <a:t>Around 24% of user spend 6-10 minutes before making an decision of purchasing </a:t>
            </a: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600">
                <a:solidFill>
                  <a:schemeClr val="dk1"/>
                </a:solidFill>
                <a:latin typeface="Quattrocento Sans"/>
                <a:ea typeface="Quattrocento Sans"/>
                <a:cs typeface="Quattrocento Sans"/>
                <a:sym typeface="Quattrocento Sans"/>
              </a:rPr>
              <a:t>Around 19% of user spend 10-15 minutes before making an decision of purchasing</a:t>
            </a:r>
            <a:endParaRPr sz="1600">
              <a:solidFill>
                <a:schemeClr val="dk1"/>
              </a:solidFill>
              <a:latin typeface="Quattrocento Sans"/>
              <a:ea typeface="Quattrocento Sans"/>
              <a:cs typeface="Quattrocento Sans"/>
              <a:sym typeface="Quattrocento Sans"/>
            </a:endParaRPr>
          </a:p>
        </p:txBody>
      </p:sp>
      <p:pic>
        <p:nvPicPr>
          <p:cNvPr id="242" name="Google Shape;242;p19"/>
          <p:cNvPicPr preferRelativeResize="0"/>
          <p:nvPr/>
        </p:nvPicPr>
        <p:blipFill rotWithShape="1">
          <a:blip r:embed="rId4">
            <a:alphaModFix/>
          </a:blip>
          <a:srcRect/>
          <a:stretch/>
        </p:blipFill>
        <p:spPr>
          <a:xfrm>
            <a:off x="685800" y="4219039"/>
            <a:ext cx="7667625" cy="25640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0"/>
          <p:cNvSpPr txBox="1"/>
          <p:nvPr/>
        </p:nvSpPr>
        <p:spPr>
          <a:xfrm>
            <a:off x="228600" y="228600"/>
            <a:ext cx="8458200" cy="132343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a:solidFill>
                  <a:schemeClr val="dk1"/>
                </a:solidFill>
                <a:latin typeface="Quattrocento Sans"/>
                <a:ea typeface="Quattrocento Sans"/>
                <a:cs typeface="Quattrocento Sans"/>
                <a:sym typeface="Quattrocento Sans"/>
              </a:rPr>
              <a:t>How frequently do you abandon (selecting an items and leaving without making payment) your shopping cart? </a:t>
            </a:r>
            <a:endParaRPr sz="16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63% of user abandoned sometimes without making an payment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18% of user never abandoned without making an payment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13% of user frequently abandoned without making an payment </a:t>
            </a:r>
            <a:endParaRPr/>
          </a:p>
        </p:txBody>
      </p:sp>
      <p:sp>
        <p:nvSpPr>
          <p:cNvPr id="248" name="Google Shape;248;p20"/>
          <p:cNvSpPr txBox="1"/>
          <p:nvPr/>
        </p:nvSpPr>
        <p:spPr>
          <a:xfrm>
            <a:off x="228600" y="1905000"/>
            <a:ext cx="8229600" cy="156966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a:solidFill>
                  <a:schemeClr val="dk1"/>
                </a:solidFill>
                <a:latin typeface="Quattrocento Sans"/>
                <a:ea typeface="Quattrocento Sans"/>
                <a:cs typeface="Quattrocento Sans"/>
                <a:sym typeface="Quattrocento Sans"/>
              </a:rPr>
              <a:t>Why did you abandon the “Bag”, “Shopping Cart” </a:t>
            </a:r>
            <a:endParaRPr sz="16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48% of user abandoned the cart because of better alternative offer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20% of user abandoned the cart because of promo code not applicable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14% of user abandoned the cart because of change in price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11% of user abandoned the cart because of lack of trust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7% of user abandoned the cart because of no prefered mode of payment </a:t>
            </a:r>
            <a:endParaRPr/>
          </a:p>
        </p:txBody>
      </p:sp>
      <p:pic>
        <p:nvPicPr>
          <p:cNvPr id="249" name="Google Shape;249;p20"/>
          <p:cNvPicPr preferRelativeResize="0"/>
          <p:nvPr/>
        </p:nvPicPr>
        <p:blipFill rotWithShape="1">
          <a:blip r:embed="rId3">
            <a:alphaModFix/>
          </a:blip>
          <a:srcRect/>
          <a:stretch/>
        </p:blipFill>
        <p:spPr>
          <a:xfrm>
            <a:off x="1239982" y="3494342"/>
            <a:ext cx="4914900" cy="3105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1"/>
          <p:cNvSpPr txBox="1"/>
          <p:nvPr/>
        </p:nvSpPr>
        <p:spPr>
          <a:xfrm>
            <a:off x="762000" y="228600"/>
            <a:ext cx="8763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rgbClr val="7F7F7F"/>
                </a:solidFill>
                <a:latin typeface="Arial"/>
                <a:ea typeface="Arial"/>
                <a:cs typeface="Arial"/>
                <a:sym typeface="Arial"/>
              </a:rPr>
              <a:t>Users  openion  on  online  retail  shops  for  different questions</a:t>
            </a:r>
            <a:endParaRPr sz="2200">
              <a:solidFill>
                <a:srgbClr val="7F7F7F"/>
              </a:solidFill>
              <a:latin typeface="Arial"/>
              <a:ea typeface="Arial"/>
              <a:cs typeface="Arial"/>
              <a:sym typeface="Arial"/>
            </a:endParaRPr>
          </a:p>
        </p:txBody>
      </p:sp>
      <p:sp>
        <p:nvSpPr>
          <p:cNvPr id="255" name="Google Shape;255;p21"/>
          <p:cNvSpPr txBox="1"/>
          <p:nvPr/>
        </p:nvSpPr>
        <p:spPr>
          <a:xfrm>
            <a:off x="533400" y="762000"/>
            <a:ext cx="8077200" cy="255454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a:solidFill>
                  <a:schemeClr val="dk1"/>
                </a:solidFill>
                <a:latin typeface="Quattrocento Sans"/>
                <a:ea typeface="Quattrocento Sans"/>
                <a:cs typeface="Quattrocento Sans"/>
                <a:sym typeface="Quattrocento Sans"/>
              </a:rPr>
              <a:t>Information on similar product to the one highlighted is important for product comparison </a:t>
            </a:r>
            <a:endParaRPr sz="16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42% strongly agree that information on similar products to the one highlighted is important for product comparision.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35% agree that information on similar products to the one highlighted is important for product comparision.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15% have openion that information on similar products to the one highlighted is important for product comparision is indifferent. </a:t>
            </a:r>
            <a:endParaRPr sz="16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US" sz="1600" b="0" i="0" u="none" strike="noStrike" cap="none">
                <a:solidFill>
                  <a:schemeClr val="dk1"/>
                </a:solidFill>
                <a:latin typeface="Quattrocento Sans"/>
                <a:ea typeface="Quattrocento Sans"/>
                <a:cs typeface="Quattrocento Sans"/>
                <a:sym typeface="Quattrocento Sans"/>
              </a:rPr>
              <a:t>Around 8% disagree that information on similar products to the one highlighted is important for product comparision.</a:t>
            </a:r>
            <a:endParaRPr sz="1600" b="0" i="0" u="none" strike="noStrike" cap="none">
              <a:solidFill>
                <a:srgbClr val="262626"/>
              </a:solidFill>
              <a:latin typeface="Quattrocento Sans"/>
              <a:ea typeface="Quattrocento Sans"/>
              <a:cs typeface="Quattrocento Sans"/>
              <a:sym typeface="Quattrocento Sans"/>
            </a:endParaRPr>
          </a:p>
        </p:txBody>
      </p:sp>
      <p:sp>
        <p:nvSpPr>
          <p:cNvPr id="256" name="Google Shape;256;p21"/>
          <p:cNvSpPr txBox="1"/>
          <p:nvPr/>
        </p:nvSpPr>
        <p:spPr>
          <a:xfrm>
            <a:off x="533400" y="3316545"/>
            <a:ext cx="8229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57" name="Google Shape;257;p21"/>
          <p:cNvPicPr preferRelativeResize="0"/>
          <p:nvPr/>
        </p:nvPicPr>
        <p:blipFill rotWithShape="1">
          <a:blip r:embed="rId3">
            <a:alphaModFix/>
          </a:blip>
          <a:srcRect/>
          <a:stretch/>
        </p:blipFill>
        <p:spPr>
          <a:xfrm>
            <a:off x="2438400" y="3316544"/>
            <a:ext cx="4038601" cy="33128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p:nvPr/>
        </p:nvSpPr>
        <p:spPr>
          <a:xfrm>
            <a:off x="381000" y="304800"/>
            <a:ext cx="8534400" cy="132343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Ease of navigation in website </a:t>
            </a:r>
            <a:endParaRPr sz="1600" b="1">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52% of the user says that they strongly agree that navigation through website is easy.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39% of the user says that they agree with ease of navigation through website Around 7% of the user strongly disagree with the ease of navigation through website Around 2% of the user disagree with the ease of navigation through website </a:t>
            </a:r>
            <a:endParaRPr/>
          </a:p>
        </p:txBody>
      </p:sp>
      <p:pic>
        <p:nvPicPr>
          <p:cNvPr id="263" name="Google Shape;263;p22"/>
          <p:cNvPicPr preferRelativeResize="0"/>
          <p:nvPr/>
        </p:nvPicPr>
        <p:blipFill rotWithShape="1">
          <a:blip r:embed="rId3">
            <a:alphaModFix/>
          </a:blip>
          <a:srcRect/>
          <a:stretch/>
        </p:blipFill>
        <p:spPr>
          <a:xfrm>
            <a:off x="2216727" y="1909096"/>
            <a:ext cx="3943350" cy="2962275"/>
          </a:xfrm>
          <a:prstGeom prst="rect">
            <a:avLst/>
          </a:prstGeom>
          <a:noFill/>
          <a:ln>
            <a:noFill/>
          </a:ln>
        </p:spPr>
      </p:pic>
      <p:sp>
        <p:nvSpPr>
          <p:cNvPr id="264" name="Google Shape;264;p22"/>
          <p:cNvSpPr txBox="1"/>
          <p:nvPr/>
        </p:nvSpPr>
        <p:spPr>
          <a:xfrm>
            <a:off x="685800" y="5354782"/>
            <a:ext cx="8229600" cy="107721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Convenient Payment methods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Around 59% of user strongly agree that the payment methods are convinient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Around 29% of user agree that the payment methods are convinient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Around 12% of user disagree that the payment methods are convinient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3"/>
          <p:cNvSpPr txBox="1"/>
          <p:nvPr/>
        </p:nvSpPr>
        <p:spPr>
          <a:xfrm>
            <a:off x="304800" y="228600"/>
            <a:ext cx="8686800" cy="206210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Trust that the online retail store will fulfill its part of the transaction at the stipulated time</a:t>
            </a:r>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52% of user strongly agree that they have trust in the online retail store will fulfill its part of the transaction at the stipulated time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31% of user agree that they have trust in the online retail store will fulfill its part of the transaction at the stipulated time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11% of the user disagree with the fact that online reatail store will fulfill its part of the transaction at the stipulated time.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6% of user stated that its indifferent. </a:t>
            </a:r>
            <a:endParaRPr/>
          </a:p>
        </p:txBody>
      </p:sp>
      <p:pic>
        <p:nvPicPr>
          <p:cNvPr id="270" name="Google Shape;270;p23"/>
          <p:cNvPicPr preferRelativeResize="0"/>
          <p:nvPr/>
        </p:nvPicPr>
        <p:blipFill rotWithShape="1">
          <a:blip r:embed="rId3">
            <a:alphaModFix/>
          </a:blip>
          <a:srcRect/>
          <a:stretch/>
        </p:blipFill>
        <p:spPr>
          <a:xfrm>
            <a:off x="1828800" y="2514599"/>
            <a:ext cx="5354782" cy="392214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4"/>
          <p:cNvSpPr txBox="1"/>
          <p:nvPr/>
        </p:nvSpPr>
        <p:spPr>
          <a:xfrm>
            <a:off x="381000" y="228600"/>
            <a:ext cx="8382000" cy="243143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900"/>
              <a:buFont typeface="Noto Sans Symbols"/>
              <a:buChar char="❑"/>
            </a:pPr>
            <a:r>
              <a:rPr lang="en-US" sz="1900" b="1">
                <a:solidFill>
                  <a:schemeClr val="dk1"/>
                </a:solidFill>
                <a:latin typeface="Calibri"/>
                <a:ea typeface="Calibri"/>
                <a:cs typeface="Calibri"/>
                <a:sym typeface="Calibri"/>
              </a:rPr>
              <a:t>Empathy (readiness to assist with queries) towards the customers </a:t>
            </a:r>
            <a:endParaRPr sz="1900" b="1">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900" b="1" i="0" u="none" strike="noStrike" cap="none">
                <a:solidFill>
                  <a:schemeClr val="dk1"/>
                </a:solidFill>
                <a:latin typeface="Calibri"/>
                <a:ea typeface="Calibri"/>
                <a:cs typeface="Calibri"/>
                <a:sym typeface="Calibri"/>
              </a:rPr>
              <a:t>Around 71% of user strongly agree with the fact that the online retail stores are always ready to assist with querries of customers. </a:t>
            </a:r>
            <a:endParaRPr sz="19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900" b="1" i="0" u="none" strike="noStrike" cap="none">
                <a:solidFill>
                  <a:schemeClr val="dk1"/>
                </a:solidFill>
                <a:latin typeface="Calibri"/>
                <a:ea typeface="Calibri"/>
                <a:cs typeface="Calibri"/>
                <a:sym typeface="Calibri"/>
              </a:rPr>
              <a:t>Around 15% of user agree with the fact that the online retail stores are always ready to assist with querries of customers. </a:t>
            </a:r>
            <a:endParaRPr sz="19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900" b="1" i="0" u="none" strike="noStrike" cap="none">
                <a:solidFill>
                  <a:schemeClr val="dk1"/>
                </a:solidFill>
                <a:latin typeface="Calibri"/>
                <a:ea typeface="Calibri"/>
                <a:cs typeface="Calibri"/>
                <a:sym typeface="Calibri"/>
              </a:rPr>
              <a:t>Around 8% of user disagree with the fact that the online retail stores are always ready to assist with querries of customers. </a:t>
            </a:r>
            <a:endParaRPr sz="19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900" b="1" i="0" u="none" strike="noStrike" cap="none">
                <a:solidFill>
                  <a:schemeClr val="dk1"/>
                </a:solidFill>
                <a:latin typeface="Calibri"/>
                <a:ea typeface="Calibri"/>
                <a:cs typeface="Calibri"/>
                <a:sym typeface="Calibri"/>
              </a:rPr>
              <a:t>Around 6% of user stated that this is indifferent.</a:t>
            </a:r>
            <a:endParaRPr/>
          </a:p>
        </p:txBody>
      </p:sp>
      <p:sp>
        <p:nvSpPr>
          <p:cNvPr id="276" name="Google Shape;276;p24"/>
          <p:cNvSpPr txBox="1"/>
          <p:nvPr/>
        </p:nvSpPr>
        <p:spPr>
          <a:xfrm>
            <a:off x="360218" y="2815468"/>
            <a:ext cx="8382000" cy="184665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900"/>
              <a:buFont typeface="Noto Sans Symbols"/>
              <a:buChar char="❑"/>
            </a:pPr>
            <a:r>
              <a:rPr lang="en-US" sz="1900" b="1">
                <a:solidFill>
                  <a:schemeClr val="dk1"/>
                </a:solidFill>
                <a:latin typeface="Calibri"/>
                <a:ea typeface="Calibri"/>
                <a:cs typeface="Calibri"/>
                <a:sym typeface="Calibri"/>
              </a:rPr>
              <a:t>Return and replacement policy of the e-tailer is important for purchase decision Around 74% of user strongly agree that replacement policy is important for purchase </a:t>
            </a:r>
            <a:endParaRPr sz="19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900" b="1">
                <a:solidFill>
                  <a:schemeClr val="dk1"/>
                </a:solidFill>
                <a:latin typeface="Calibri"/>
                <a:ea typeface="Calibri"/>
                <a:cs typeface="Calibri"/>
                <a:sym typeface="Calibri"/>
              </a:rPr>
              <a:t>     Around 19% of user agree that replacement policy is important for purchase </a:t>
            </a:r>
            <a:endParaRPr sz="19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900" b="1">
                <a:solidFill>
                  <a:schemeClr val="dk1"/>
                </a:solidFill>
                <a:latin typeface="Calibri"/>
                <a:ea typeface="Calibri"/>
                <a:cs typeface="Calibri"/>
                <a:sym typeface="Calibri"/>
              </a:rPr>
              <a:t>     Around 7% of user disagree with the fact that replacement policy is important for   purchase</a:t>
            </a:r>
            <a:endParaRPr sz="1900" b="1">
              <a:solidFill>
                <a:schemeClr val="dk1"/>
              </a:solidFill>
              <a:latin typeface="Calibri"/>
              <a:ea typeface="Calibri"/>
              <a:cs typeface="Calibri"/>
              <a:sym typeface="Calibri"/>
            </a:endParaRPr>
          </a:p>
        </p:txBody>
      </p:sp>
      <p:sp>
        <p:nvSpPr>
          <p:cNvPr id="277" name="Google Shape;277;p24"/>
          <p:cNvSpPr txBox="1"/>
          <p:nvPr/>
        </p:nvSpPr>
        <p:spPr>
          <a:xfrm>
            <a:off x="360218" y="4800600"/>
            <a:ext cx="7772400" cy="184665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900"/>
              <a:buFont typeface="Noto Sans Symbols"/>
              <a:buChar char="❑"/>
            </a:pPr>
            <a:r>
              <a:rPr lang="en-US" sz="1900" b="1">
                <a:solidFill>
                  <a:schemeClr val="dk1"/>
                </a:solidFill>
                <a:latin typeface="Calibri"/>
                <a:ea typeface="Calibri"/>
                <a:cs typeface="Calibri"/>
                <a:sym typeface="Calibri"/>
              </a:rPr>
              <a:t>Shopping online is convenient and flexible </a:t>
            </a:r>
            <a:endParaRPr sz="19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900" b="1">
                <a:solidFill>
                  <a:schemeClr val="dk1"/>
                </a:solidFill>
                <a:latin typeface="Calibri"/>
                <a:ea typeface="Calibri"/>
                <a:cs typeface="Calibri"/>
                <a:sym typeface="Calibri"/>
              </a:rPr>
              <a:t>Around 54% of user strongly agree that online shopping is flexible and convinient </a:t>
            </a:r>
            <a:endParaRPr sz="19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900" b="1">
                <a:solidFill>
                  <a:schemeClr val="dk1"/>
                </a:solidFill>
                <a:latin typeface="Calibri"/>
                <a:ea typeface="Calibri"/>
                <a:cs typeface="Calibri"/>
                <a:sym typeface="Calibri"/>
              </a:rPr>
              <a:t>Around 29% of user agree that online shopping is flexible and convinient </a:t>
            </a:r>
            <a:endParaRPr sz="19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900" b="1">
                <a:solidFill>
                  <a:schemeClr val="dk1"/>
                </a:solidFill>
                <a:latin typeface="Calibri"/>
                <a:ea typeface="Calibri"/>
                <a:cs typeface="Calibri"/>
                <a:sym typeface="Calibri"/>
              </a:rPr>
              <a:t>Around 5% of user disagree that online shopping is flexible and convinient Around 12% of user stated it as indifferent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5"/>
          <p:cNvSpPr txBox="1"/>
          <p:nvPr/>
        </p:nvSpPr>
        <p:spPr>
          <a:xfrm>
            <a:off x="381000" y="152400"/>
            <a:ext cx="8382000" cy="156966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User satisfaction cannot exist without trust </a:t>
            </a:r>
            <a:endParaRPr sz="1600" b="1">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45% of user strongly agree that user satisfaction cannot exist without trust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43% of user agree that user satisfaction cannot exist without trust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6% of user strongly disagree that user satisfaction cannot exist without trust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3% of user disagree that user satisfaction cannot exist without trust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3% of user stated it as indifferent </a:t>
            </a:r>
            <a:endParaRPr/>
          </a:p>
        </p:txBody>
      </p:sp>
      <p:pic>
        <p:nvPicPr>
          <p:cNvPr id="283" name="Google Shape;283;p25"/>
          <p:cNvPicPr preferRelativeResize="0"/>
          <p:nvPr/>
        </p:nvPicPr>
        <p:blipFill rotWithShape="1">
          <a:blip r:embed="rId3">
            <a:alphaModFix/>
          </a:blip>
          <a:srcRect/>
          <a:stretch/>
        </p:blipFill>
        <p:spPr>
          <a:xfrm>
            <a:off x="1609725" y="1870364"/>
            <a:ext cx="5924550" cy="48040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6"/>
          <p:cNvSpPr/>
          <p:nvPr/>
        </p:nvSpPr>
        <p:spPr>
          <a:xfrm>
            <a:off x="304800" y="152400"/>
            <a:ext cx="8686800" cy="2062103"/>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Monetary savings </a:t>
            </a:r>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55% of user strongly agree with the fact that there is a monetary savings through online shopping </a:t>
            </a:r>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28% of user agree with the fact that there is a monetary savings through online shopping </a:t>
            </a:r>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11% of user disagree with the fact that there is a monetary savings through online shopping </a:t>
            </a:r>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6% of user stated it as indifferent </a:t>
            </a:r>
            <a:endParaRPr sz="1600" b="1" i="0" u="none" strike="noStrike" cap="none">
              <a:solidFill>
                <a:schemeClr val="dk1"/>
              </a:solidFill>
              <a:latin typeface="Calibri"/>
              <a:ea typeface="Calibri"/>
              <a:cs typeface="Calibri"/>
              <a:sym typeface="Calibri"/>
            </a:endParaRPr>
          </a:p>
        </p:txBody>
      </p:sp>
      <p:pic>
        <p:nvPicPr>
          <p:cNvPr id="289" name="Google Shape;289;p26"/>
          <p:cNvPicPr preferRelativeResize="0"/>
          <p:nvPr/>
        </p:nvPicPr>
        <p:blipFill rotWithShape="1">
          <a:blip r:embed="rId3">
            <a:alphaModFix/>
          </a:blip>
          <a:srcRect/>
          <a:stretch/>
        </p:blipFill>
        <p:spPr>
          <a:xfrm>
            <a:off x="1732684" y="2364533"/>
            <a:ext cx="5076825" cy="43013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7"/>
          <p:cNvSpPr txBox="1"/>
          <p:nvPr/>
        </p:nvSpPr>
        <p:spPr>
          <a:xfrm>
            <a:off x="304800" y="152400"/>
            <a:ext cx="8686800" cy="107721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Getting value for money spent </a:t>
            </a:r>
            <a:endParaRPr sz="1600" b="1">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15% of users stated it as indifferent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55% agree the fact that they got the value for money spent </a:t>
            </a:r>
            <a:endParaRPr sz="1600" b="1"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US" sz="1600" b="1" i="0" u="none" strike="noStrike" cap="none">
                <a:solidFill>
                  <a:schemeClr val="dk1"/>
                </a:solidFill>
                <a:latin typeface="Calibri"/>
                <a:ea typeface="Calibri"/>
                <a:cs typeface="Calibri"/>
                <a:sym typeface="Calibri"/>
              </a:rPr>
              <a:t>Around 30% strongly agree the fact that they got the value for money spent</a:t>
            </a:r>
            <a:endParaRPr/>
          </a:p>
        </p:txBody>
      </p:sp>
      <p:sp>
        <p:nvSpPr>
          <p:cNvPr id="295" name="Google Shape;295;p27"/>
          <p:cNvSpPr txBox="1"/>
          <p:nvPr/>
        </p:nvSpPr>
        <p:spPr>
          <a:xfrm>
            <a:off x="304800" y="1524000"/>
            <a:ext cx="83058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7F7F7F"/>
                </a:solidFill>
                <a:latin typeface="Arial"/>
                <a:ea typeface="Arial"/>
                <a:cs typeface="Arial"/>
                <a:sym typeface="Arial"/>
              </a:rPr>
              <a:t>Users choice web application on different areas</a:t>
            </a:r>
            <a:endParaRPr sz="3200">
              <a:solidFill>
                <a:srgbClr val="7F7F7F"/>
              </a:solidFill>
              <a:latin typeface="Arial"/>
              <a:ea typeface="Arial"/>
              <a:cs typeface="Arial"/>
              <a:sym typeface="Arial"/>
            </a:endParaRPr>
          </a:p>
        </p:txBody>
      </p:sp>
      <p:sp>
        <p:nvSpPr>
          <p:cNvPr id="296" name="Google Shape;296;p27"/>
          <p:cNvSpPr txBox="1"/>
          <p:nvPr/>
        </p:nvSpPr>
        <p:spPr>
          <a:xfrm>
            <a:off x="381000" y="2108775"/>
            <a:ext cx="8458200"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Which is the easy to use application?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According to user the Amazon, Flipkart and paytm are top three easy to use applications.</a:t>
            </a:r>
            <a:endParaRPr/>
          </a:p>
        </p:txBody>
      </p:sp>
      <p:grpSp>
        <p:nvGrpSpPr>
          <p:cNvPr id="297" name="Google Shape;297;p27"/>
          <p:cNvGrpSpPr/>
          <p:nvPr/>
        </p:nvGrpSpPr>
        <p:grpSpPr>
          <a:xfrm rot="5400000">
            <a:off x="1568604" y="1966058"/>
            <a:ext cx="1431232" cy="2899161"/>
            <a:chOff x="2551248" y="2954981"/>
            <a:chExt cx="1550505" cy="3140766"/>
          </a:xfrm>
        </p:grpSpPr>
        <p:sp>
          <p:nvSpPr>
            <p:cNvPr id="298" name="Google Shape;298;p27"/>
            <p:cNvSpPr/>
            <p:nvPr/>
          </p:nvSpPr>
          <p:spPr>
            <a:xfrm>
              <a:off x="2551248" y="2954981"/>
              <a:ext cx="516835" cy="3140766"/>
            </a:xfrm>
            <a:prstGeom prst="round2SameRect">
              <a:avLst>
                <a:gd name="adj1" fmla="val 50000"/>
                <a:gd name="adj2" fmla="val 0"/>
              </a:avLst>
            </a:prstGeom>
            <a:solidFill>
              <a:srgbClr val="6FB0A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27"/>
            <p:cNvSpPr/>
            <p:nvPr/>
          </p:nvSpPr>
          <p:spPr>
            <a:xfrm>
              <a:off x="3077903" y="3657599"/>
              <a:ext cx="507015" cy="2438147"/>
            </a:xfrm>
            <a:prstGeom prst="round2SameRect">
              <a:avLst>
                <a:gd name="adj1" fmla="val 50000"/>
                <a:gd name="adj2" fmla="val 0"/>
              </a:avLst>
            </a:prstGeom>
            <a:solidFill>
              <a:srgbClr val="5656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27"/>
            <p:cNvSpPr/>
            <p:nvPr/>
          </p:nvSpPr>
          <p:spPr>
            <a:xfrm>
              <a:off x="3584918" y="4545241"/>
              <a:ext cx="516835" cy="1550506"/>
            </a:xfrm>
            <a:prstGeom prst="round2SameRect">
              <a:avLst>
                <a:gd name="adj1" fmla="val 50000"/>
                <a:gd name="adj2" fmla="val 0"/>
              </a:avLst>
            </a:prstGeom>
            <a:solidFill>
              <a:srgbClr val="C7C6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27"/>
            <p:cNvSpPr txBox="1"/>
            <p:nvPr/>
          </p:nvSpPr>
          <p:spPr>
            <a:xfrm rot="-5400000">
              <a:off x="1815753" y="4643098"/>
              <a:ext cx="200107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amazon</a:t>
              </a:r>
              <a:endParaRPr sz="2800" b="1">
                <a:solidFill>
                  <a:srgbClr val="E8E9EB"/>
                </a:solidFill>
                <a:latin typeface="Twentieth Century"/>
                <a:ea typeface="Twentieth Century"/>
                <a:cs typeface="Twentieth Century"/>
                <a:sym typeface="Twentieth Century"/>
              </a:endParaRPr>
            </a:p>
          </p:txBody>
        </p:sp>
        <p:sp>
          <p:nvSpPr>
            <p:cNvPr id="302" name="Google Shape;302;p27"/>
            <p:cNvSpPr txBox="1"/>
            <p:nvPr/>
          </p:nvSpPr>
          <p:spPr>
            <a:xfrm rot="-5400000">
              <a:off x="2421235" y="4643098"/>
              <a:ext cx="178407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flipkart</a:t>
              </a:r>
              <a:endParaRPr sz="2800" b="1">
                <a:solidFill>
                  <a:srgbClr val="E8E9EB"/>
                </a:solidFill>
                <a:latin typeface="Twentieth Century"/>
                <a:ea typeface="Twentieth Century"/>
                <a:cs typeface="Twentieth Century"/>
                <a:sym typeface="Twentieth Century"/>
              </a:endParaRPr>
            </a:p>
          </p:txBody>
        </p:sp>
        <p:sp>
          <p:nvSpPr>
            <p:cNvPr id="303" name="Google Shape;303;p27"/>
            <p:cNvSpPr txBox="1"/>
            <p:nvPr/>
          </p:nvSpPr>
          <p:spPr>
            <a:xfrm rot="-5400000">
              <a:off x="3156706" y="4963634"/>
              <a:ext cx="136000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paytm</a:t>
              </a:r>
              <a:endParaRPr sz="2800" b="1">
                <a:solidFill>
                  <a:srgbClr val="E8E9EB"/>
                </a:solidFill>
                <a:latin typeface="Twentieth Century"/>
                <a:ea typeface="Twentieth Century"/>
                <a:cs typeface="Twentieth Century"/>
                <a:sym typeface="Twentieth Century"/>
              </a:endParaRPr>
            </a:p>
          </p:txBody>
        </p:sp>
      </p:grpSp>
      <p:sp>
        <p:nvSpPr>
          <p:cNvPr id="304" name="Google Shape;304;p27"/>
          <p:cNvSpPr txBox="1"/>
          <p:nvPr/>
        </p:nvSpPr>
        <p:spPr>
          <a:xfrm>
            <a:off x="384342" y="4393332"/>
            <a:ext cx="8229600"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Which is the most reliable web application? </a:t>
            </a:r>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According to user amazon tops the chart followed by flipkart and paytm</a:t>
            </a:r>
            <a:endParaRPr/>
          </a:p>
        </p:txBody>
      </p:sp>
      <p:grpSp>
        <p:nvGrpSpPr>
          <p:cNvPr id="305" name="Google Shape;305;p27"/>
          <p:cNvGrpSpPr/>
          <p:nvPr/>
        </p:nvGrpSpPr>
        <p:grpSpPr>
          <a:xfrm rot="5400000">
            <a:off x="1550254" y="4259165"/>
            <a:ext cx="1431232" cy="2899161"/>
            <a:chOff x="2551248" y="2954981"/>
            <a:chExt cx="1550505" cy="3140766"/>
          </a:xfrm>
        </p:grpSpPr>
        <p:sp>
          <p:nvSpPr>
            <p:cNvPr id="306" name="Google Shape;306;p27"/>
            <p:cNvSpPr/>
            <p:nvPr/>
          </p:nvSpPr>
          <p:spPr>
            <a:xfrm>
              <a:off x="2551248" y="2954981"/>
              <a:ext cx="516835" cy="3140766"/>
            </a:xfrm>
            <a:prstGeom prst="round2SameRect">
              <a:avLst>
                <a:gd name="adj1" fmla="val 50000"/>
                <a:gd name="adj2" fmla="val 0"/>
              </a:avLst>
            </a:prstGeom>
            <a:solidFill>
              <a:srgbClr val="6FB0A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p27"/>
            <p:cNvSpPr/>
            <p:nvPr/>
          </p:nvSpPr>
          <p:spPr>
            <a:xfrm>
              <a:off x="3077903" y="3657599"/>
              <a:ext cx="507015" cy="2438147"/>
            </a:xfrm>
            <a:prstGeom prst="round2SameRect">
              <a:avLst>
                <a:gd name="adj1" fmla="val 50000"/>
                <a:gd name="adj2" fmla="val 0"/>
              </a:avLst>
            </a:prstGeom>
            <a:solidFill>
              <a:srgbClr val="5656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27"/>
            <p:cNvSpPr/>
            <p:nvPr/>
          </p:nvSpPr>
          <p:spPr>
            <a:xfrm>
              <a:off x="3584918" y="4545241"/>
              <a:ext cx="516835" cy="1550506"/>
            </a:xfrm>
            <a:prstGeom prst="round2SameRect">
              <a:avLst>
                <a:gd name="adj1" fmla="val 50000"/>
                <a:gd name="adj2" fmla="val 0"/>
              </a:avLst>
            </a:prstGeom>
            <a:solidFill>
              <a:srgbClr val="C7C6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 name="Google Shape;309;p27"/>
            <p:cNvSpPr txBox="1"/>
            <p:nvPr/>
          </p:nvSpPr>
          <p:spPr>
            <a:xfrm rot="-5400000">
              <a:off x="1815753" y="4643098"/>
              <a:ext cx="200107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amazon</a:t>
              </a:r>
              <a:endParaRPr sz="2800" b="1">
                <a:solidFill>
                  <a:srgbClr val="E8E9EB"/>
                </a:solidFill>
                <a:latin typeface="Twentieth Century"/>
                <a:ea typeface="Twentieth Century"/>
                <a:cs typeface="Twentieth Century"/>
                <a:sym typeface="Twentieth Century"/>
              </a:endParaRPr>
            </a:p>
          </p:txBody>
        </p:sp>
        <p:sp>
          <p:nvSpPr>
            <p:cNvPr id="310" name="Google Shape;310;p27"/>
            <p:cNvSpPr txBox="1"/>
            <p:nvPr/>
          </p:nvSpPr>
          <p:spPr>
            <a:xfrm rot="-5400000">
              <a:off x="2421235" y="4643098"/>
              <a:ext cx="178407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flipkart</a:t>
              </a:r>
              <a:endParaRPr sz="2800" b="1">
                <a:solidFill>
                  <a:srgbClr val="E8E9EB"/>
                </a:solidFill>
                <a:latin typeface="Twentieth Century"/>
                <a:ea typeface="Twentieth Century"/>
                <a:cs typeface="Twentieth Century"/>
                <a:sym typeface="Twentieth Century"/>
              </a:endParaRPr>
            </a:p>
          </p:txBody>
        </p:sp>
        <p:sp>
          <p:nvSpPr>
            <p:cNvPr id="311" name="Google Shape;311;p27"/>
            <p:cNvSpPr txBox="1"/>
            <p:nvPr/>
          </p:nvSpPr>
          <p:spPr>
            <a:xfrm rot="-5400000">
              <a:off x="3156706" y="4963634"/>
              <a:ext cx="136000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paytm</a:t>
              </a:r>
              <a:endParaRPr sz="2800" b="1">
                <a:solidFill>
                  <a:srgbClr val="E8E9EB"/>
                </a:solidFill>
                <a:latin typeface="Twentieth Century"/>
                <a:ea typeface="Twentieth Century"/>
                <a:cs typeface="Twentieth Century"/>
                <a:sym typeface="Twentieth Century"/>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8"/>
          <p:cNvSpPr txBox="1"/>
          <p:nvPr/>
        </p:nvSpPr>
        <p:spPr>
          <a:xfrm>
            <a:off x="381000" y="228600"/>
            <a:ext cx="8382000"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Which web application takes most care regarding the privacy of customer’s information?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In case of customers privacy amazon tops the chart followed by flipkart and paytm </a:t>
            </a:r>
            <a:endParaRPr/>
          </a:p>
        </p:txBody>
      </p:sp>
      <p:sp>
        <p:nvSpPr>
          <p:cNvPr id="317" name="Google Shape;317;p28"/>
          <p:cNvSpPr txBox="1"/>
          <p:nvPr/>
        </p:nvSpPr>
        <p:spPr>
          <a:xfrm>
            <a:off x="381000" y="1066800"/>
            <a:ext cx="8534400"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Limited mode of payment on most products (promotion, sales period)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In case of limited mode of payment on most of the products snapdeal tops the chart        followed by flipkart and amazon.</a:t>
            </a:r>
            <a:endParaRPr/>
          </a:p>
        </p:txBody>
      </p:sp>
      <p:sp>
        <p:nvSpPr>
          <p:cNvPr id="318" name="Google Shape;318;p28"/>
          <p:cNvSpPr txBox="1"/>
          <p:nvPr/>
        </p:nvSpPr>
        <p:spPr>
          <a:xfrm>
            <a:off x="381000" y="2133600"/>
            <a:ext cx="8229600"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Which website has longer delivery period?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In case of longer delivery period snapdeal tops the chart followed by paytm and flipkart.</a:t>
            </a:r>
            <a:endParaRPr/>
          </a:p>
        </p:txBody>
      </p:sp>
      <p:grpSp>
        <p:nvGrpSpPr>
          <p:cNvPr id="319" name="Google Shape;319;p28"/>
          <p:cNvGrpSpPr/>
          <p:nvPr/>
        </p:nvGrpSpPr>
        <p:grpSpPr>
          <a:xfrm rot="5400000">
            <a:off x="1531717" y="2103975"/>
            <a:ext cx="1468311" cy="2899161"/>
            <a:chOff x="2551248" y="2954981"/>
            <a:chExt cx="1590674" cy="3140766"/>
          </a:xfrm>
        </p:grpSpPr>
        <p:sp>
          <p:nvSpPr>
            <p:cNvPr id="320" name="Google Shape;320;p28"/>
            <p:cNvSpPr/>
            <p:nvPr/>
          </p:nvSpPr>
          <p:spPr>
            <a:xfrm>
              <a:off x="2551248" y="2954981"/>
              <a:ext cx="516835" cy="3140766"/>
            </a:xfrm>
            <a:prstGeom prst="round2SameRect">
              <a:avLst>
                <a:gd name="adj1" fmla="val 50000"/>
                <a:gd name="adj2" fmla="val 0"/>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28"/>
            <p:cNvSpPr/>
            <p:nvPr/>
          </p:nvSpPr>
          <p:spPr>
            <a:xfrm>
              <a:off x="3077903" y="3657599"/>
              <a:ext cx="507015" cy="2438147"/>
            </a:xfrm>
            <a:prstGeom prst="round2SameRect">
              <a:avLst>
                <a:gd name="adj1" fmla="val 50000"/>
                <a:gd name="adj2" fmla="val 0"/>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28"/>
            <p:cNvSpPr/>
            <p:nvPr/>
          </p:nvSpPr>
          <p:spPr>
            <a:xfrm>
              <a:off x="3584918" y="4545241"/>
              <a:ext cx="516835" cy="1550506"/>
            </a:xfrm>
            <a:prstGeom prst="round2SameRect">
              <a:avLst>
                <a:gd name="adj1" fmla="val 50000"/>
                <a:gd name="adj2" fmla="val 0"/>
              </a:avLst>
            </a:prstGeom>
            <a:solidFill>
              <a:srgbClr val="C7C6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28"/>
            <p:cNvSpPr txBox="1"/>
            <p:nvPr/>
          </p:nvSpPr>
          <p:spPr>
            <a:xfrm rot="-5400000">
              <a:off x="1837554" y="4621297"/>
              <a:ext cx="2001078" cy="5668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wentieth Century"/>
                  <a:ea typeface="Twentieth Century"/>
                  <a:cs typeface="Twentieth Century"/>
                  <a:sym typeface="Twentieth Century"/>
                </a:rPr>
                <a:t>snapdeal</a:t>
              </a:r>
              <a:endParaRPr sz="2800" b="1">
                <a:solidFill>
                  <a:schemeClr val="dk1"/>
                </a:solidFill>
                <a:latin typeface="Twentieth Century"/>
                <a:ea typeface="Twentieth Century"/>
                <a:cs typeface="Twentieth Century"/>
                <a:sym typeface="Twentieth Century"/>
              </a:endParaRPr>
            </a:p>
          </p:txBody>
        </p:sp>
        <p:sp>
          <p:nvSpPr>
            <p:cNvPr id="324" name="Google Shape;324;p28"/>
            <p:cNvSpPr txBox="1"/>
            <p:nvPr/>
          </p:nvSpPr>
          <p:spPr>
            <a:xfrm rot="-5400000">
              <a:off x="2443037" y="4621296"/>
              <a:ext cx="1784074" cy="5668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wentieth Century"/>
                  <a:ea typeface="Twentieth Century"/>
                  <a:cs typeface="Twentieth Century"/>
                  <a:sym typeface="Twentieth Century"/>
                </a:rPr>
                <a:t>paytm</a:t>
              </a:r>
              <a:endParaRPr sz="2800" b="1">
                <a:solidFill>
                  <a:schemeClr val="dk1"/>
                </a:solidFill>
                <a:latin typeface="Twentieth Century"/>
                <a:ea typeface="Twentieth Century"/>
                <a:cs typeface="Twentieth Century"/>
                <a:sym typeface="Twentieth Century"/>
              </a:endParaRPr>
            </a:p>
          </p:txBody>
        </p:sp>
        <p:sp>
          <p:nvSpPr>
            <p:cNvPr id="325" name="Google Shape;325;p28"/>
            <p:cNvSpPr txBox="1"/>
            <p:nvPr/>
          </p:nvSpPr>
          <p:spPr>
            <a:xfrm rot="-5400000">
              <a:off x="3033841" y="4972657"/>
              <a:ext cx="1649339" cy="566823"/>
            </a:xfrm>
            <a:prstGeom prst="rect">
              <a:avLst/>
            </a:prstGeom>
            <a:solidFill>
              <a:srgbClr val="CCFF66"/>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wentieth Century"/>
                  <a:ea typeface="Twentieth Century"/>
                  <a:cs typeface="Twentieth Century"/>
                  <a:sym typeface="Twentieth Century"/>
                </a:rPr>
                <a:t>flipkart</a:t>
              </a:r>
              <a:endParaRPr sz="2800" b="1">
                <a:solidFill>
                  <a:schemeClr val="dk1"/>
                </a:solidFill>
                <a:latin typeface="Twentieth Century"/>
                <a:ea typeface="Twentieth Century"/>
                <a:cs typeface="Twentieth Century"/>
                <a:sym typeface="Twentieth Century"/>
              </a:endParaRPr>
            </a:p>
          </p:txBody>
        </p:sp>
      </p:grpSp>
      <p:sp>
        <p:nvSpPr>
          <p:cNvPr id="326" name="Google Shape;326;p28"/>
          <p:cNvSpPr txBox="1"/>
          <p:nvPr/>
        </p:nvSpPr>
        <p:spPr>
          <a:xfrm>
            <a:off x="389464" y="4379478"/>
            <a:ext cx="8382000"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Which website declares price of products in late?</a:t>
            </a:r>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In case of late declaration of price mynthra tops the chart followed by paytm and flipkart</a:t>
            </a:r>
            <a:endParaRPr/>
          </a:p>
        </p:txBody>
      </p:sp>
      <p:grpSp>
        <p:nvGrpSpPr>
          <p:cNvPr id="327" name="Google Shape;327;p28"/>
          <p:cNvGrpSpPr/>
          <p:nvPr/>
        </p:nvGrpSpPr>
        <p:grpSpPr>
          <a:xfrm rot="5400000">
            <a:off x="1531715" y="4277706"/>
            <a:ext cx="1468312" cy="2899161"/>
            <a:chOff x="2551248" y="2954981"/>
            <a:chExt cx="1590675" cy="3140766"/>
          </a:xfrm>
        </p:grpSpPr>
        <p:sp>
          <p:nvSpPr>
            <p:cNvPr id="328" name="Google Shape;328;p28"/>
            <p:cNvSpPr/>
            <p:nvPr/>
          </p:nvSpPr>
          <p:spPr>
            <a:xfrm>
              <a:off x="2551248" y="2954981"/>
              <a:ext cx="516835" cy="3140766"/>
            </a:xfrm>
            <a:prstGeom prst="round2SameRect">
              <a:avLst>
                <a:gd name="adj1" fmla="val 50000"/>
                <a:gd name="adj2" fmla="val 0"/>
              </a:avLst>
            </a:prstGeom>
            <a:solidFill>
              <a:srgbClr val="6FB0A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28"/>
            <p:cNvSpPr/>
            <p:nvPr/>
          </p:nvSpPr>
          <p:spPr>
            <a:xfrm>
              <a:off x="3077903" y="3657599"/>
              <a:ext cx="507015" cy="2438147"/>
            </a:xfrm>
            <a:prstGeom prst="round2SameRect">
              <a:avLst>
                <a:gd name="adj1" fmla="val 50000"/>
                <a:gd name="adj2" fmla="val 0"/>
              </a:avLst>
            </a:prstGeom>
            <a:solidFill>
              <a:srgbClr val="5656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28"/>
            <p:cNvSpPr/>
            <p:nvPr/>
          </p:nvSpPr>
          <p:spPr>
            <a:xfrm>
              <a:off x="3584918" y="4545241"/>
              <a:ext cx="516835" cy="1550506"/>
            </a:xfrm>
            <a:prstGeom prst="round2SameRect">
              <a:avLst>
                <a:gd name="adj1" fmla="val 50000"/>
                <a:gd name="adj2" fmla="val 0"/>
              </a:avLst>
            </a:prstGeom>
            <a:solidFill>
              <a:srgbClr val="C7C6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p28"/>
            <p:cNvSpPr txBox="1"/>
            <p:nvPr/>
          </p:nvSpPr>
          <p:spPr>
            <a:xfrm rot="-5400000">
              <a:off x="1837554" y="4720628"/>
              <a:ext cx="2001078" cy="5668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Mynthra</a:t>
              </a:r>
              <a:endParaRPr sz="2800" b="1">
                <a:solidFill>
                  <a:srgbClr val="E8E9EB"/>
                </a:solidFill>
                <a:latin typeface="Twentieth Century"/>
                <a:ea typeface="Twentieth Century"/>
                <a:cs typeface="Twentieth Century"/>
                <a:sym typeface="Twentieth Century"/>
              </a:endParaRPr>
            </a:p>
          </p:txBody>
        </p:sp>
        <p:sp>
          <p:nvSpPr>
            <p:cNvPr id="332" name="Google Shape;332;p28"/>
            <p:cNvSpPr txBox="1"/>
            <p:nvPr/>
          </p:nvSpPr>
          <p:spPr>
            <a:xfrm rot="-5400000">
              <a:off x="2443038" y="4881111"/>
              <a:ext cx="1784074" cy="5668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paytm</a:t>
              </a:r>
              <a:endParaRPr sz="2800" b="1">
                <a:solidFill>
                  <a:srgbClr val="E8E9EB"/>
                </a:solidFill>
                <a:latin typeface="Twentieth Century"/>
                <a:ea typeface="Twentieth Century"/>
                <a:cs typeface="Twentieth Century"/>
                <a:sym typeface="Twentieth Century"/>
              </a:endParaRPr>
            </a:p>
          </p:txBody>
        </p:sp>
        <p:sp>
          <p:nvSpPr>
            <p:cNvPr id="333" name="Google Shape;333;p28"/>
            <p:cNvSpPr txBox="1"/>
            <p:nvPr/>
          </p:nvSpPr>
          <p:spPr>
            <a:xfrm rot="-5400000">
              <a:off x="2992566" y="4907202"/>
              <a:ext cx="1731891" cy="5668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flipkart</a:t>
              </a:r>
              <a:endParaRPr sz="2800" b="1">
                <a:solidFill>
                  <a:srgbClr val="E8E9EB"/>
                </a:solidFill>
                <a:latin typeface="Twentieth Century"/>
                <a:ea typeface="Twentieth Century"/>
                <a:cs typeface="Twentieth Century"/>
                <a:sym typeface="Twentieth Century"/>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9"/>
          <p:cNvSpPr txBox="1"/>
          <p:nvPr/>
        </p:nvSpPr>
        <p:spPr>
          <a:xfrm>
            <a:off x="381000" y="304800"/>
            <a:ext cx="8458200"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Availability of several payment options? </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According the user amazon has got several payment options followed by flipkart and mynthra.</a:t>
            </a:r>
            <a:endParaRPr/>
          </a:p>
        </p:txBody>
      </p:sp>
      <p:grpSp>
        <p:nvGrpSpPr>
          <p:cNvPr id="339" name="Google Shape;339;p29"/>
          <p:cNvGrpSpPr/>
          <p:nvPr/>
        </p:nvGrpSpPr>
        <p:grpSpPr>
          <a:xfrm rot="5400000">
            <a:off x="1438470" y="255744"/>
            <a:ext cx="1468311" cy="2899162"/>
            <a:chOff x="2551248" y="2954981"/>
            <a:chExt cx="1590675" cy="3140767"/>
          </a:xfrm>
        </p:grpSpPr>
        <p:sp>
          <p:nvSpPr>
            <p:cNvPr id="340" name="Google Shape;340;p29"/>
            <p:cNvSpPr/>
            <p:nvPr/>
          </p:nvSpPr>
          <p:spPr>
            <a:xfrm>
              <a:off x="2551248" y="2954981"/>
              <a:ext cx="516835" cy="3140766"/>
            </a:xfrm>
            <a:prstGeom prst="round2SameRect">
              <a:avLst>
                <a:gd name="adj1" fmla="val 50000"/>
                <a:gd name="adj2" fmla="val 0"/>
              </a:avLst>
            </a:prstGeom>
            <a:solidFill>
              <a:srgbClr val="6FB0A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29"/>
            <p:cNvSpPr/>
            <p:nvPr/>
          </p:nvSpPr>
          <p:spPr>
            <a:xfrm>
              <a:off x="3077903" y="3657599"/>
              <a:ext cx="507015" cy="2438147"/>
            </a:xfrm>
            <a:prstGeom prst="round2SameRect">
              <a:avLst>
                <a:gd name="adj1" fmla="val 50000"/>
                <a:gd name="adj2" fmla="val 0"/>
              </a:avLst>
            </a:prstGeom>
            <a:solidFill>
              <a:srgbClr val="5656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2" name="Google Shape;342;p29"/>
            <p:cNvSpPr/>
            <p:nvPr/>
          </p:nvSpPr>
          <p:spPr>
            <a:xfrm>
              <a:off x="3584918" y="4545241"/>
              <a:ext cx="516835" cy="1550506"/>
            </a:xfrm>
            <a:prstGeom prst="round2SameRect">
              <a:avLst>
                <a:gd name="adj1" fmla="val 50000"/>
                <a:gd name="adj2" fmla="val 0"/>
              </a:avLst>
            </a:prstGeom>
            <a:solidFill>
              <a:srgbClr val="C7C6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29"/>
            <p:cNvSpPr txBox="1"/>
            <p:nvPr/>
          </p:nvSpPr>
          <p:spPr>
            <a:xfrm rot="-5400000">
              <a:off x="1815753" y="4643098"/>
              <a:ext cx="200107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amazon</a:t>
              </a:r>
              <a:endParaRPr sz="2800" b="1">
                <a:solidFill>
                  <a:srgbClr val="E8E9EB"/>
                </a:solidFill>
                <a:latin typeface="Twentieth Century"/>
                <a:ea typeface="Twentieth Century"/>
                <a:cs typeface="Twentieth Century"/>
                <a:sym typeface="Twentieth Century"/>
              </a:endParaRPr>
            </a:p>
          </p:txBody>
        </p:sp>
        <p:sp>
          <p:nvSpPr>
            <p:cNvPr id="344" name="Google Shape;344;p29"/>
            <p:cNvSpPr txBox="1"/>
            <p:nvPr/>
          </p:nvSpPr>
          <p:spPr>
            <a:xfrm rot="-5400000">
              <a:off x="2421235" y="4643098"/>
              <a:ext cx="178407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flipkart</a:t>
              </a:r>
              <a:endParaRPr sz="2800" b="1">
                <a:solidFill>
                  <a:srgbClr val="E8E9EB"/>
                </a:solidFill>
                <a:latin typeface="Twentieth Century"/>
                <a:ea typeface="Twentieth Century"/>
                <a:cs typeface="Twentieth Century"/>
                <a:sym typeface="Twentieth Century"/>
              </a:endParaRPr>
            </a:p>
          </p:txBody>
        </p:sp>
        <p:sp>
          <p:nvSpPr>
            <p:cNvPr id="345" name="Google Shape;345;p29"/>
            <p:cNvSpPr txBox="1"/>
            <p:nvPr/>
          </p:nvSpPr>
          <p:spPr>
            <a:xfrm rot="-5400000">
              <a:off x="2970633" y="4924458"/>
              <a:ext cx="1775756" cy="5668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E8E9EB"/>
                  </a:solidFill>
                  <a:latin typeface="Twentieth Century"/>
                  <a:ea typeface="Twentieth Century"/>
                  <a:cs typeface="Twentieth Century"/>
                  <a:sym typeface="Twentieth Century"/>
                </a:rPr>
                <a:t>mythra</a:t>
              </a:r>
              <a:endParaRPr sz="2800" b="1">
                <a:solidFill>
                  <a:srgbClr val="E8E9EB"/>
                </a:solidFill>
                <a:latin typeface="Twentieth Century"/>
                <a:ea typeface="Twentieth Century"/>
                <a:cs typeface="Twentieth Century"/>
                <a:sym typeface="Twentieth Century"/>
              </a:endParaRPr>
            </a:p>
          </p:txBody>
        </p:sp>
      </p:grpSp>
      <p:sp>
        <p:nvSpPr>
          <p:cNvPr id="346" name="Google Shape;346;p29"/>
          <p:cNvSpPr txBox="1"/>
          <p:nvPr/>
        </p:nvSpPr>
        <p:spPr>
          <a:xfrm>
            <a:off x="533400" y="2743200"/>
            <a:ext cx="8153400"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Noto Sans Symbols"/>
              <a:buChar char="❑"/>
            </a:pPr>
            <a:r>
              <a:rPr lang="en-US" sz="1600" b="1">
                <a:solidFill>
                  <a:schemeClr val="dk1"/>
                </a:solidFill>
                <a:latin typeface="Calibri"/>
                <a:ea typeface="Calibri"/>
                <a:cs typeface="Calibri"/>
                <a:sym typeface="Calibri"/>
              </a:rPr>
              <a:t>Which website provides the complete relevent description of the products?</a:t>
            </a:r>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      According to user amazon tops the chart in providing the complete relevent product description followed by flipkart, snapdeal and paytm.</a:t>
            </a:r>
            <a:endParaRPr/>
          </a:p>
        </p:txBody>
      </p:sp>
      <p:sp>
        <p:nvSpPr>
          <p:cNvPr id="347" name="Google Shape;347;p29"/>
          <p:cNvSpPr txBox="1"/>
          <p:nvPr/>
        </p:nvSpPr>
        <p:spPr>
          <a:xfrm>
            <a:off x="3192233" y="4648200"/>
            <a:ext cx="592405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Thank You</a:t>
            </a:r>
            <a:endParaRPr sz="4000" b="1">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1621</Words>
  <Application>Microsoft Office PowerPoint</Application>
  <PresentationFormat>On-screen Show (4:3)</PresentationFormat>
  <Paragraphs>142</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Century Gothic</vt:lpstr>
      <vt:lpstr>Twentieth Century</vt:lpstr>
      <vt:lpstr>Calibri</vt:lpstr>
      <vt:lpstr>Arial Black</vt:lpstr>
      <vt:lpstr>Impact</vt:lpstr>
      <vt:lpstr>Quattrocento Sans</vt:lpstr>
      <vt:lpstr>Noto Sans Symbols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Mansi Nagpal</cp:lastModifiedBy>
  <cp:revision>1</cp:revision>
  <dcterms:modified xsi:type="dcterms:W3CDTF">2023-01-11T12:10:32Z</dcterms:modified>
</cp:coreProperties>
</file>